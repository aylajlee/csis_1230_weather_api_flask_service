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23"/>
  </p:notesMasterIdLst>
  <p:sldIdLst>
    <p:sldId id="256" r:id="rId2"/>
    <p:sldId id="260" r:id="rId3"/>
    <p:sldId id="290" r:id="rId4"/>
    <p:sldId id="291" r:id="rId5"/>
    <p:sldId id="292" r:id="rId6"/>
    <p:sldId id="294" r:id="rId7"/>
    <p:sldId id="295" r:id="rId8"/>
    <p:sldId id="297" r:id="rId9"/>
    <p:sldId id="296" r:id="rId10"/>
    <p:sldId id="298" r:id="rId11"/>
    <p:sldId id="306" r:id="rId12"/>
    <p:sldId id="302" r:id="rId13"/>
    <p:sldId id="304" r:id="rId14"/>
    <p:sldId id="301" r:id="rId15"/>
    <p:sldId id="300" r:id="rId16"/>
    <p:sldId id="305" r:id="rId17"/>
    <p:sldId id="280" r:id="rId18"/>
    <p:sldId id="303" r:id="rId19"/>
    <p:sldId id="299"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59" d="100"/>
          <a:sy n="59" d="100"/>
        </p:scale>
        <p:origin x="232"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8A44E5-EA57-4925-8479-29EF08503155}"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8BB28-0103-41DB-B566-89A0B5130D44}" type="slidenum">
              <a:rPr lang="en-US" smtClean="0"/>
              <a:t>‹#›</a:t>
            </a:fld>
            <a:endParaRPr lang="en-US"/>
          </a:p>
        </p:txBody>
      </p:sp>
    </p:spTree>
    <p:extLst>
      <p:ext uri="{BB962C8B-B14F-4D97-AF65-F5344CB8AC3E}">
        <p14:creationId xmlns:p14="http://schemas.microsoft.com/office/powerpoint/2010/main" val="3197949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08BB28-0103-41DB-B566-89A0B5130D44}" type="slidenum">
              <a:rPr lang="en-US" smtClean="0"/>
              <a:t>1</a:t>
            </a:fld>
            <a:endParaRPr lang="en-US"/>
          </a:p>
        </p:txBody>
      </p:sp>
    </p:spTree>
    <p:extLst>
      <p:ext uri="{BB962C8B-B14F-4D97-AF65-F5344CB8AC3E}">
        <p14:creationId xmlns:p14="http://schemas.microsoft.com/office/powerpoint/2010/main" val="905014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08BB28-0103-41DB-B566-89A0B5130D44}" type="slidenum">
              <a:rPr lang="en-US" smtClean="0"/>
              <a:t>11</a:t>
            </a:fld>
            <a:endParaRPr lang="en-US"/>
          </a:p>
        </p:txBody>
      </p:sp>
    </p:spTree>
    <p:extLst>
      <p:ext uri="{BB962C8B-B14F-4D97-AF65-F5344CB8AC3E}">
        <p14:creationId xmlns:p14="http://schemas.microsoft.com/office/powerpoint/2010/main" val="3771236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1812-36A1-0979-7D9E-89BFBF92B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B2D67-518B-9D73-4B10-714340847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BB4480-3B67-AF05-597C-110BB92AC2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413D4A-0A73-D359-B2DD-98D02456CB91}"/>
              </a:ext>
            </a:extLst>
          </p:cNvPr>
          <p:cNvSpPr>
            <a:spLocks noGrp="1"/>
          </p:cNvSpPr>
          <p:nvPr>
            <p:ph type="sldNum" sz="quarter" idx="5"/>
          </p:nvPr>
        </p:nvSpPr>
        <p:spPr/>
        <p:txBody>
          <a:bodyPr/>
          <a:lstStyle/>
          <a:p>
            <a:fld id="{6808BB28-0103-41DB-B566-89A0B5130D44}" type="slidenum">
              <a:rPr lang="en-US" smtClean="0"/>
              <a:t>14</a:t>
            </a:fld>
            <a:endParaRPr lang="en-US"/>
          </a:p>
        </p:txBody>
      </p:sp>
    </p:spTree>
    <p:extLst>
      <p:ext uri="{BB962C8B-B14F-4D97-AF65-F5344CB8AC3E}">
        <p14:creationId xmlns:p14="http://schemas.microsoft.com/office/powerpoint/2010/main" val="3484741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1CA9A-7BAD-5F2A-BE2E-1FB9DE71C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1ADBC-C89F-78A7-A9BF-4A5D8CDC4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3FC748-8F2E-BED1-5BE8-F0D3019247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9C532-972B-36AE-3A31-19497E5797D6}"/>
              </a:ext>
            </a:extLst>
          </p:cNvPr>
          <p:cNvSpPr>
            <a:spLocks noGrp="1"/>
          </p:cNvSpPr>
          <p:nvPr>
            <p:ph type="sldNum" sz="quarter" idx="5"/>
          </p:nvPr>
        </p:nvSpPr>
        <p:spPr/>
        <p:txBody>
          <a:bodyPr/>
          <a:lstStyle/>
          <a:p>
            <a:fld id="{6808BB28-0103-41DB-B566-89A0B5130D44}" type="slidenum">
              <a:rPr lang="en-US" smtClean="0"/>
              <a:t>15</a:t>
            </a:fld>
            <a:endParaRPr lang="en-US"/>
          </a:p>
        </p:txBody>
      </p:sp>
    </p:spTree>
    <p:extLst>
      <p:ext uri="{BB962C8B-B14F-4D97-AF65-F5344CB8AC3E}">
        <p14:creationId xmlns:p14="http://schemas.microsoft.com/office/powerpoint/2010/main" val="4201198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AA3F0-D469-0A54-5381-FD4E4FCBA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85E2B-BA32-0159-5A36-55BA9AB09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0027F-1FD9-5EA8-CF25-85CA291097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7ED2A4-4293-DE5E-B44B-58819755D95E}"/>
              </a:ext>
            </a:extLst>
          </p:cNvPr>
          <p:cNvSpPr>
            <a:spLocks noGrp="1"/>
          </p:cNvSpPr>
          <p:nvPr>
            <p:ph type="sldNum" sz="quarter" idx="5"/>
          </p:nvPr>
        </p:nvSpPr>
        <p:spPr/>
        <p:txBody>
          <a:bodyPr/>
          <a:lstStyle/>
          <a:p>
            <a:fld id="{6808BB28-0103-41DB-B566-89A0B5130D44}" type="slidenum">
              <a:rPr lang="en-US" smtClean="0"/>
              <a:t>16</a:t>
            </a:fld>
            <a:endParaRPr lang="en-US"/>
          </a:p>
        </p:txBody>
      </p:sp>
    </p:spTree>
    <p:extLst>
      <p:ext uri="{BB962C8B-B14F-4D97-AF65-F5344CB8AC3E}">
        <p14:creationId xmlns:p14="http://schemas.microsoft.com/office/powerpoint/2010/main" val="2477020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A19C5-4C44-E6F8-ABB8-B91FCDA98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B3642-CE04-BFA8-D556-123EEF527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7A4A6-F907-3261-F1CE-FACB6534FD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2450CD-DF1F-9C74-3B46-F3A83ABC0198}"/>
              </a:ext>
            </a:extLst>
          </p:cNvPr>
          <p:cNvSpPr>
            <a:spLocks noGrp="1"/>
          </p:cNvSpPr>
          <p:nvPr>
            <p:ph type="sldNum" sz="quarter" idx="5"/>
          </p:nvPr>
        </p:nvSpPr>
        <p:spPr/>
        <p:txBody>
          <a:bodyPr/>
          <a:lstStyle/>
          <a:p>
            <a:fld id="{6808BB28-0103-41DB-B566-89A0B5130D44}" type="slidenum">
              <a:rPr lang="en-US" smtClean="0"/>
              <a:t>17</a:t>
            </a:fld>
            <a:endParaRPr lang="en-US"/>
          </a:p>
        </p:txBody>
      </p:sp>
    </p:spTree>
    <p:extLst>
      <p:ext uri="{BB962C8B-B14F-4D97-AF65-F5344CB8AC3E}">
        <p14:creationId xmlns:p14="http://schemas.microsoft.com/office/powerpoint/2010/main" val="569075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1AAB2-E43C-CC1B-0734-4C93E2C63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FAEC3-BF9A-7182-B378-F5CD4F8E3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D9B21-9166-A3C2-40B0-A0904CCB1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29E79B-E8D2-ED6D-111E-8B046C48C294}"/>
              </a:ext>
            </a:extLst>
          </p:cNvPr>
          <p:cNvSpPr>
            <a:spLocks noGrp="1"/>
          </p:cNvSpPr>
          <p:nvPr>
            <p:ph type="sldNum" sz="quarter" idx="5"/>
          </p:nvPr>
        </p:nvSpPr>
        <p:spPr/>
        <p:txBody>
          <a:bodyPr/>
          <a:lstStyle/>
          <a:p>
            <a:fld id="{6808BB28-0103-41DB-B566-89A0B5130D44}" type="slidenum">
              <a:rPr lang="en-US" smtClean="0"/>
              <a:t>18</a:t>
            </a:fld>
            <a:endParaRPr lang="en-US"/>
          </a:p>
        </p:txBody>
      </p:sp>
    </p:spTree>
    <p:extLst>
      <p:ext uri="{BB962C8B-B14F-4D97-AF65-F5344CB8AC3E}">
        <p14:creationId xmlns:p14="http://schemas.microsoft.com/office/powerpoint/2010/main" val="1807278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B8D9D-9AB6-96C5-5FB5-E96A09A7D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CB45E-BFA7-876B-1231-AB7368ACB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70F384-100D-2BAD-67B0-B88D0AEC5D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405987-9875-C6FA-92CE-3456B30D933B}"/>
              </a:ext>
            </a:extLst>
          </p:cNvPr>
          <p:cNvSpPr>
            <a:spLocks noGrp="1"/>
          </p:cNvSpPr>
          <p:nvPr>
            <p:ph type="sldNum" sz="quarter" idx="5"/>
          </p:nvPr>
        </p:nvSpPr>
        <p:spPr/>
        <p:txBody>
          <a:bodyPr/>
          <a:lstStyle/>
          <a:p>
            <a:fld id="{6808BB28-0103-41DB-B566-89A0B5130D44}" type="slidenum">
              <a:rPr lang="en-US" smtClean="0"/>
              <a:t>19</a:t>
            </a:fld>
            <a:endParaRPr lang="en-US"/>
          </a:p>
        </p:txBody>
      </p:sp>
    </p:spTree>
    <p:extLst>
      <p:ext uri="{BB962C8B-B14F-4D97-AF65-F5344CB8AC3E}">
        <p14:creationId xmlns:p14="http://schemas.microsoft.com/office/powerpoint/2010/main" val="1320243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C7C5B-A05A-3C1D-96AB-43E2B655C9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62719-1E62-905A-3762-BAF35B873B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4B665C-1B7C-C779-2399-9417555382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BCF514-FF73-620D-06CE-6AD7B58B7CCC}"/>
              </a:ext>
            </a:extLst>
          </p:cNvPr>
          <p:cNvSpPr>
            <a:spLocks noGrp="1"/>
          </p:cNvSpPr>
          <p:nvPr>
            <p:ph type="sldNum" sz="quarter" idx="5"/>
          </p:nvPr>
        </p:nvSpPr>
        <p:spPr/>
        <p:txBody>
          <a:bodyPr/>
          <a:lstStyle/>
          <a:p>
            <a:fld id="{6808BB28-0103-41DB-B566-89A0B5130D44}" type="slidenum">
              <a:rPr lang="en-US" smtClean="0"/>
              <a:t>20</a:t>
            </a:fld>
            <a:endParaRPr lang="en-US"/>
          </a:p>
        </p:txBody>
      </p:sp>
    </p:spTree>
    <p:extLst>
      <p:ext uri="{BB962C8B-B14F-4D97-AF65-F5344CB8AC3E}">
        <p14:creationId xmlns:p14="http://schemas.microsoft.com/office/powerpoint/2010/main" val="16051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152E-ABFB-FF1E-EE8E-928401B82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E7E49-6A34-2D50-D792-8384D08C7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46293-E8AA-7413-D66F-63A5FC4604A5}"/>
              </a:ext>
            </a:extLst>
          </p:cNvPr>
          <p:cNvSpPr>
            <a:spLocks noGrp="1"/>
          </p:cNvSpPr>
          <p:nvPr>
            <p:ph type="body" idx="1"/>
          </p:nvPr>
        </p:nvSpPr>
        <p:spPr/>
        <p:txBody>
          <a:bodyPr/>
          <a:lstStyle/>
          <a:p>
            <a:r>
              <a:rPr lang="en-US" b="1" dirty="0"/>
              <a:t>5. Getting Started Tips</a:t>
            </a:r>
          </a:p>
          <a:p>
            <a:r>
              <a:rPr lang="en-US" b="1" dirty="0"/>
              <a:t>Install</a:t>
            </a:r>
            <a:r>
              <a:rPr lang="en-US" dirty="0"/>
              <a:t>: download from python.org or use Anaconda for a bundled scientific stack.</a:t>
            </a:r>
          </a:p>
          <a:p>
            <a:r>
              <a:rPr lang="en-US" b="1" dirty="0"/>
              <a:t>Launch REPL</a:t>
            </a:r>
            <a:r>
              <a:rPr lang="en-US" dirty="0"/>
              <a:t>: open a terminal, type python3, experiment.¹⁸</a:t>
            </a:r>
          </a:p>
          <a:p>
            <a:r>
              <a:rPr lang="en-US" b="1" dirty="0"/>
              <a:t>First script</a:t>
            </a:r>
            <a:r>
              <a:rPr lang="en-US" dirty="0"/>
              <a:t>: save print("Hello, world!") as hello.py; run python hello.py.¹⁷</a:t>
            </a:r>
          </a:p>
          <a:p>
            <a:r>
              <a:rPr lang="en-US" b="1" dirty="0"/>
              <a:t>Virtual environments</a:t>
            </a:r>
            <a:r>
              <a:rPr lang="en-US" dirty="0"/>
              <a:t>: python -m </a:t>
            </a:r>
            <a:r>
              <a:rPr lang="en-US" dirty="0" err="1"/>
              <a:t>venv</a:t>
            </a:r>
            <a:r>
              <a:rPr lang="en-US" dirty="0"/>
              <a:t> </a:t>
            </a:r>
            <a:r>
              <a:rPr lang="en-US" dirty="0" err="1"/>
              <a:t>venv</a:t>
            </a:r>
            <a:r>
              <a:rPr lang="en-US" dirty="0"/>
              <a:t> keeps project packages isolated.</a:t>
            </a:r>
          </a:p>
          <a:p>
            <a:r>
              <a:rPr lang="en-US" b="1" dirty="0"/>
              <a:t>Next steps</a:t>
            </a:r>
            <a:r>
              <a:rPr lang="en-US" dirty="0"/>
              <a:t>: Explore </a:t>
            </a:r>
            <a:r>
              <a:rPr lang="en-US" i="1" dirty="0"/>
              <a:t>The Python Tutorial</a:t>
            </a:r>
            <a:r>
              <a:rPr lang="en-US" dirty="0"/>
              <a:t> and beginner MOOCs like “Python for Everybody.”¹⁹</a:t>
            </a:r>
          </a:p>
        </p:txBody>
      </p:sp>
      <p:sp>
        <p:nvSpPr>
          <p:cNvPr id="4" name="Slide Number Placeholder 3">
            <a:extLst>
              <a:ext uri="{FF2B5EF4-FFF2-40B4-BE49-F238E27FC236}">
                <a16:creationId xmlns:a16="http://schemas.microsoft.com/office/drawing/2014/main" id="{E8EA14B0-2286-3C8F-1B04-A3E93A83CA0B}"/>
              </a:ext>
            </a:extLst>
          </p:cNvPr>
          <p:cNvSpPr>
            <a:spLocks noGrp="1"/>
          </p:cNvSpPr>
          <p:nvPr>
            <p:ph type="sldNum" sz="quarter" idx="5"/>
          </p:nvPr>
        </p:nvSpPr>
        <p:spPr/>
        <p:txBody>
          <a:bodyPr/>
          <a:lstStyle/>
          <a:p>
            <a:fld id="{6808BB28-0103-41DB-B566-89A0B5130D44}" type="slidenum">
              <a:rPr lang="en-US" smtClean="0"/>
              <a:t>21</a:t>
            </a:fld>
            <a:endParaRPr lang="en-US"/>
          </a:p>
        </p:txBody>
      </p:sp>
    </p:spTree>
    <p:extLst>
      <p:ext uri="{BB962C8B-B14F-4D97-AF65-F5344CB8AC3E}">
        <p14:creationId xmlns:p14="http://schemas.microsoft.com/office/powerpoint/2010/main" val="725896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2/1/2026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51296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2/1/2026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05107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2/1/2026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72993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2/1/2026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7751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2/1/2026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0042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2/1/2026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10523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2/1/2026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99074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2/1/2026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65043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2/1/2026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24174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2/1/2026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87480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2/1/2026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42129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2/1/2026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85097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693" r:id="rId6"/>
    <p:sldLayoutId id="2147483689" r:id="rId7"/>
    <p:sldLayoutId id="2147483690" r:id="rId8"/>
    <p:sldLayoutId id="2147483691" r:id="rId9"/>
    <p:sldLayoutId id="2147483692" r:id="rId10"/>
    <p:sldLayoutId id="2147483694"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northpark.edu/"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jsonplaceholder.typicode.com/posts?userId=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jsonplaceholder.typicode.com/posts?userId=1" TargetMode="External"/><Relationship Id="rId2" Type="http://schemas.openxmlformats.org/officeDocument/2006/relationships/hyperlink" Target="https://jsonplaceholder.typicode.com/todos?userId=2" TargetMode="External"/><Relationship Id="rId1" Type="http://schemas.openxmlformats.org/officeDocument/2006/relationships/slideLayout" Target="../slideLayouts/slideLayout2.xml"/><Relationship Id="rId4" Type="http://schemas.openxmlformats.org/officeDocument/2006/relationships/hyperlink" Target="https://reqres.in/api/users?page=1"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2A1AB8-F310-7A4E-9DFA-593DF73D6F7D}"/>
              </a:ext>
            </a:extLst>
          </p:cNvPr>
          <p:cNvSpPr>
            <a:spLocks noGrp="1"/>
          </p:cNvSpPr>
          <p:nvPr>
            <p:ph type="ctrTitle"/>
          </p:nvPr>
        </p:nvSpPr>
        <p:spPr>
          <a:xfrm>
            <a:off x="5604552" y="871758"/>
            <a:ext cx="5825448" cy="3871143"/>
          </a:xfrm>
        </p:spPr>
        <p:txBody>
          <a:bodyPr>
            <a:normAutofit/>
          </a:bodyPr>
          <a:lstStyle/>
          <a:p>
            <a:r>
              <a:rPr lang="en-US" dirty="0"/>
              <a:t>CSIS 1230-01</a:t>
            </a:r>
            <a:br>
              <a:rPr lang="en-US" dirty="0"/>
            </a:br>
            <a:r>
              <a:rPr lang="en-US" dirty="0"/>
              <a:t>programming for everyone </a:t>
            </a:r>
            <a:r>
              <a:rPr lang="en-US" dirty="0" err="1"/>
              <a:t>iI</a:t>
            </a:r>
            <a:endParaRPr lang="en-US" dirty="0"/>
          </a:p>
        </p:txBody>
      </p:sp>
      <p:sp>
        <p:nvSpPr>
          <p:cNvPr id="3" name="Subtitle 2">
            <a:extLst>
              <a:ext uri="{FF2B5EF4-FFF2-40B4-BE49-F238E27FC236}">
                <a16:creationId xmlns:a16="http://schemas.microsoft.com/office/drawing/2014/main" id="{81C2E102-502A-B94D-0661-F4D84CCBB52F}"/>
              </a:ext>
            </a:extLst>
          </p:cNvPr>
          <p:cNvSpPr>
            <a:spLocks noGrp="1"/>
          </p:cNvSpPr>
          <p:nvPr>
            <p:ph type="subTitle" idx="1"/>
          </p:nvPr>
        </p:nvSpPr>
        <p:spPr>
          <a:xfrm>
            <a:off x="5619964" y="4785543"/>
            <a:ext cx="5825448" cy="1005657"/>
          </a:xfrm>
        </p:spPr>
        <p:txBody>
          <a:bodyPr>
            <a:normAutofit/>
          </a:bodyPr>
          <a:lstStyle/>
          <a:p>
            <a:r>
              <a:rPr lang="en-US" b="1" dirty="0"/>
              <a:t>Introduction to Web APIs</a:t>
            </a:r>
          </a:p>
        </p:txBody>
      </p:sp>
      <p:cxnSp>
        <p:nvCxnSpPr>
          <p:cNvPr id="20" name="Straight Connector 19">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101010 data lines to infinity">
            <a:extLst>
              <a:ext uri="{FF2B5EF4-FFF2-40B4-BE49-F238E27FC236}">
                <a16:creationId xmlns:a16="http://schemas.microsoft.com/office/drawing/2014/main" id="{79A2122D-65F8-48DD-74E2-42672D42E97E}"/>
              </a:ext>
            </a:extLst>
          </p:cNvPr>
          <p:cNvPicPr>
            <a:picLocks noChangeAspect="1"/>
          </p:cNvPicPr>
          <p:nvPr/>
        </p:nvPicPr>
        <p:blipFill>
          <a:blip r:embed="rId3"/>
          <a:srcRect t="13127"/>
          <a:stretch>
            <a:fillRect/>
          </a:stretch>
        </p:blipFill>
        <p:spPr>
          <a:xfrm>
            <a:off x="21" y="10"/>
            <a:ext cx="5476332" cy="6857990"/>
          </a:xfrm>
          <a:prstGeom prst="rect">
            <a:avLst/>
          </a:prstGeom>
        </p:spPr>
      </p:pic>
    </p:spTree>
    <p:extLst>
      <p:ext uri="{BB962C8B-B14F-4D97-AF65-F5344CB8AC3E}">
        <p14:creationId xmlns:p14="http://schemas.microsoft.com/office/powerpoint/2010/main" val="250735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DE25E-891F-D07A-77B3-8B421DF47ECC}"/>
              </a:ext>
            </a:extLst>
          </p:cNvPr>
          <p:cNvSpPr>
            <a:spLocks noGrp="1"/>
          </p:cNvSpPr>
          <p:nvPr>
            <p:ph type="title"/>
          </p:nvPr>
        </p:nvSpPr>
        <p:spPr/>
        <p:txBody>
          <a:bodyPr/>
          <a:lstStyle/>
          <a:p>
            <a:r>
              <a:rPr lang="en-US" dirty="0"/>
              <a:t>OUTLINE</a:t>
            </a:r>
          </a:p>
        </p:txBody>
      </p:sp>
      <p:sp>
        <p:nvSpPr>
          <p:cNvPr id="3" name="TextBox 2">
            <a:extLst>
              <a:ext uri="{FF2B5EF4-FFF2-40B4-BE49-F238E27FC236}">
                <a16:creationId xmlns:a16="http://schemas.microsoft.com/office/drawing/2014/main" id="{FF376949-EA60-0556-9320-891C593275E3}"/>
              </a:ext>
            </a:extLst>
          </p:cNvPr>
          <p:cNvSpPr txBox="1"/>
          <p:nvPr/>
        </p:nvSpPr>
        <p:spPr>
          <a:xfrm>
            <a:off x="692737" y="1981200"/>
            <a:ext cx="10798628" cy="3785652"/>
          </a:xfrm>
          <a:prstGeom prst="rect">
            <a:avLst/>
          </a:prstGeom>
          <a:noFill/>
        </p:spPr>
        <p:txBody>
          <a:bodyPr wrap="square" rtlCol="0">
            <a:spAutoFit/>
          </a:bodyPr>
          <a:lstStyle/>
          <a:p>
            <a:pPr marL="285750" indent="-285750">
              <a:buFont typeface="Wingdings" panose="05000000000000000000" pitchFamily="2" charset="2"/>
              <a:buChar char="§"/>
            </a:pPr>
            <a:r>
              <a:rPr lang="en-US" sz="2000" dirty="0"/>
              <a:t> What clients and servers are, and how they talk using HTTP</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a:t> What a URL and query parameters work</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a:t>  Core HTTP methods (GET, POST, PUT, DELETE)</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a:t> HTTP status codes (2XX, 4XX, 5XX)</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a:t>Basics of authentication (API keys, Bearer tokens)</a:t>
            </a:r>
          </a:p>
          <a:p>
            <a:pPr marL="285750" indent="-285750">
              <a:buFont typeface="Wingdings" panose="05000000000000000000" pitchFamily="2" charset="2"/>
              <a:buChar char="§"/>
            </a:pPr>
            <a:endParaRPr lang="en-US" sz="2000" dirty="0"/>
          </a:p>
          <a:p>
            <a:pPr marL="285750" indent="-285750">
              <a:buFont typeface="Wingdings" panose="05000000000000000000" pitchFamily="2" charset="2"/>
              <a:buChar char="§"/>
            </a:pPr>
            <a:r>
              <a:rPr lang="en-US" sz="2000" dirty="0"/>
              <a:t>Handson with browser and Postman</a:t>
            </a:r>
          </a:p>
          <a:p>
            <a:pPr marL="285750" indent="-285750">
              <a:buFont typeface="Wingdings" panose="05000000000000000000" pitchFamily="2" charset="2"/>
              <a:buChar char="§"/>
            </a:pPr>
            <a:endParaRPr lang="en-US" sz="2000" dirty="0"/>
          </a:p>
        </p:txBody>
      </p:sp>
    </p:spTree>
    <p:extLst>
      <p:ext uri="{BB962C8B-B14F-4D97-AF65-F5344CB8AC3E}">
        <p14:creationId xmlns:p14="http://schemas.microsoft.com/office/powerpoint/2010/main" val="2935870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BCCA-BDFC-A50F-535C-58C76F8EC46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C8BF084-6109-80D9-94BA-A1E678031CC9}"/>
              </a:ext>
            </a:extLst>
          </p:cNvPr>
          <p:cNvPicPr>
            <a:picLocks noChangeAspect="1"/>
          </p:cNvPicPr>
          <p:nvPr/>
        </p:nvPicPr>
        <p:blipFill>
          <a:blip r:embed="rId2"/>
          <a:stretch>
            <a:fillRect/>
          </a:stretch>
        </p:blipFill>
        <p:spPr>
          <a:xfrm>
            <a:off x="946309" y="1305890"/>
            <a:ext cx="10015605" cy="4735299"/>
          </a:xfrm>
          <a:prstGeom prst="rect">
            <a:avLst/>
          </a:prstGeom>
        </p:spPr>
      </p:pic>
      <p:sp>
        <p:nvSpPr>
          <p:cNvPr id="2" name="Title 1">
            <a:extLst>
              <a:ext uri="{FF2B5EF4-FFF2-40B4-BE49-F238E27FC236}">
                <a16:creationId xmlns:a16="http://schemas.microsoft.com/office/drawing/2014/main" id="{95B4F135-6377-182E-8F24-29CE540CB921}"/>
              </a:ext>
            </a:extLst>
          </p:cNvPr>
          <p:cNvSpPr>
            <a:spLocks noGrp="1"/>
          </p:cNvSpPr>
          <p:nvPr>
            <p:ph type="title"/>
          </p:nvPr>
        </p:nvSpPr>
        <p:spPr>
          <a:xfrm>
            <a:off x="750367" y="816811"/>
            <a:ext cx="10691265" cy="1307592"/>
          </a:xfrm>
        </p:spPr>
        <p:txBody>
          <a:bodyPr/>
          <a:lstStyle/>
          <a:p>
            <a:r>
              <a:rPr lang="en-US" dirty="0"/>
              <a:t>Client – server communication via http</a:t>
            </a:r>
          </a:p>
        </p:txBody>
      </p:sp>
    </p:spTree>
    <p:extLst>
      <p:ext uri="{BB962C8B-B14F-4D97-AF65-F5344CB8AC3E}">
        <p14:creationId xmlns:p14="http://schemas.microsoft.com/office/powerpoint/2010/main" val="919251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F7ADC-37BC-71BC-7F90-801FABB27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6E869-CB6D-1B01-2A1D-CDC64C80802A}"/>
              </a:ext>
            </a:extLst>
          </p:cNvPr>
          <p:cNvSpPr>
            <a:spLocks noGrp="1"/>
          </p:cNvSpPr>
          <p:nvPr>
            <p:ph type="title"/>
          </p:nvPr>
        </p:nvSpPr>
        <p:spPr>
          <a:xfrm>
            <a:off x="750367" y="816811"/>
            <a:ext cx="10691265" cy="1307592"/>
          </a:xfrm>
        </p:spPr>
        <p:txBody>
          <a:bodyPr/>
          <a:lstStyle/>
          <a:p>
            <a:r>
              <a:rPr lang="en-US" dirty="0"/>
              <a:t>Client – server (restaurant)</a:t>
            </a:r>
          </a:p>
        </p:txBody>
      </p:sp>
      <p:graphicFrame>
        <p:nvGraphicFramePr>
          <p:cNvPr id="5" name="Content Placeholder 5">
            <a:extLst>
              <a:ext uri="{FF2B5EF4-FFF2-40B4-BE49-F238E27FC236}">
                <a16:creationId xmlns:a16="http://schemas.microsoft.com/office/drawing/2014/main" id="{6858A6BB-FD15-926A-7699-171D4F6CD075}"/>
              </a:ext>
            </a:extLst>
          </p:cNvPr>
          <p:cNvGraphicFramePr>
            <a:graphicFrameLocks noGrp="1"/>
          </p:cNvGraphicFramePr>
          <p:nvPr>
            <p:ph idx="1"/>
            <p:extLst>
              <p:ext uri="{D42A27DB-BD31-4B8C-83A1-F6EECF244321}">
                <p14:modId xmlns:p14="http://schemas.microsoft.com/office/powerpoint/2010/main" val="3627077497"/>
              </p:ext>
            </p:extLst>
          </p:nvPr>
        </p:nvGraphicFramePr>
        <p:xfrm>
          <a:off x="750367" y="1643906"/>
          <a:ext cx="10505462" cy="4365661"/>
        </p:xfrm>
        <a:graphic>
          <a:graphicData uri="http://schemas.openxmlformats.org/drawingml/2006/table">
            <a:tbl>
              <a:tblPr/>
              <a:tblGrid>
                <a:gridCol w="3070519">
                  <a:extLst>
                    <a:ext uri="{9D8B030D-6E8A-4147-A177-3AD203B41FA5}">
                      <a16:colId xmlns:a16="http://schemas.microsoft.com/office/drawing/2014/main" val="3308915305"/>
                    </a:ext>
                  </a:extLst>
                </a:gridCol>
                <a:gridCol w="3638166">
                  <a:extLst>
                    <a:ext uri="{9D8B030D-6E8A-4147-A177-3AD203B41FA5}">
                      <a16:colId xmlns:a16="http://schemas.microsoft.com/office/drawing/2014/main" val="2609269255"/>
                    </a:ext>
                  </a:extLst>
                </a:gridCol>
                <a:gridCol w="3796777">
                  <a:extLst>
                    <a:ext uri="{9D8B030D-6E8A-4147-A177-3AD203B41FA5}">
                      <a16:colId xmlns:a16="http://schemas.microsoft.com/office/drawing/2014/main" val="2541104211"/>
                    </a:ext>
                  </a:extLst>
                </a:gridCol>
              </a:tblGrid>
              <a:tr h="720661">
                <a:tc>
                  <a:txBody>
                    <a:bodyPr/>
                    <a:lstStyle/>
                    <a:p>
                      <a:r>
                        <a:rPr lang="en-US" sz="1800" b="1" dirty="0">
                          <a:latin typeface="+mn-lt"/>
                        </a:rPr>
                        <a:t>CLIENT</a:t>
                      </a:r>
                    </a:p>
                  </a:txBody>
                  <a:tcPr marL="63392" marR="63392" marT="31696" marB="31696"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sz="1800" b="1" dirty="0">
                          <a:latin typeface="+mn-lt"/>
                        </a:rPr>
                        <a:t>API</a:t>
                      </a:r>
                    </a:p>
                  </a:txBody>
                  <a:tcPr marL="63392" marR="63392" marT="31696" marB="316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sz="1800" b="1" dirty="0">
                          <a:latin typeface="+mn-lt"/>
                        </a:rPr>
                        <a:t>SERVER</a:t>
                      </a:r>
                    </a:p>
                  </a:txBody>
                  <a:tcPr marL="63392" marR="63392" marT="31696" marB="31696"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934266"/>
                  </a:ext>
                </a:extLst>
              </a:tr>
              <a:tr h="911250">
                <a:tc>
                  <a:txBody>
                    <a:bodyPr/>
                    <a:lstStyle/>
                    <a:p>
                      <a:r>
                        <a:rPr lang="en-US" dirty="0">
                          <a:latin typeface="+mn-lt"/>
                        </a:rPr>
                        <a:t>You have a need (food). </a:t>
                      </a:r>
                      <a:endParaRPr lang="en-US" sz="1800" b="0" i="0" dirty="0">
                        <a:latin typeface="+mn-lt"/>
                      </a:endParaRP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sz="1800" i="0" dirty="0">
                          <a:latin typeface="+mn-lt"/>
                        </a:rPr>
                        <a:t>List of rules for what to order </a:t>
                      </a:r>
                    </a:p>
                  </a:txBody>
                  <a:tcPr marL="63392" marR="63392" marT="31696" marB="316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sz="1800" i="0" dirty="0">
                          <a:latin typeface="+mn-lt"/>
                          <a:cs typeface="Courier New" panose="02070309020205020404" pitchFamily="49" charset="0"/>
                        </a:rPr>
                        <a:t>Receives your order</a:t>
                      </a: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548155359"/>
                  </a:ext>
                </a:extLst>
              </a:tr>
              <a:tr h="911250">
                <a:tc>
                  <a:txBody>
                    <a:bodyPr/>
                    <a:lstStyle/>
                    <a:p>
                      <a:r>
                        <a:rPr lang="en-US" dirty="0">
                          <a:latin typeface="+mn-lt"/>
                        </a:rPr>
                        <a:t>You look at the menu to see what you can order</a:t>
                      </a:r>
                      <a:endParaRPr lang="en-US" sz="1800" b="0" i="0" dirty="0">
                        <a:latin typeface="+mn-lt"/>
                      </a:endParaRP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1800" i="0" dirty="0">
                          <a:latin typeface="+mn-lt"/>
                        </a:rPr>
                        <a:t>Tells you what dishes you can order</a:t>
                      </a:r>
                    </a:p>
                  </a:txBody>
                  <a:tcPr marL="63392" marR="63392" marT="31696" marB="316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1800" i="0" dirty="0">
                          <a:latin typeface="+mn-lt"/>
                        </a:rPr>
                        <a:t>Prepares the food exacts as described on the menu</a:t>
                      </a: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2174739273"/>
                  </a:ext>
                </a:extLst>
              </a:tr>
              <a:tr h="911250">
                <a:tc>
                  <a:txBody>
                    <a:bodyPr/>
                    <a:lstStyle/>
                    <a:p>
                      <a:r>
                        <a:rPr lang="en-US" dirty="0">
                          <a:latin typeface="+mn-lt"/>
                        </a:rPr>
                        <a:t>Send your order to the server. </a:t>
                      </a:r>
                      <a:endParaRPr lang="en-US" sz="1800" b="0" i="0" dirty="0">
                        <a:latin typeface="+mn-lt"/>
                      </a:endParaRP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1800" i="0" dirty="0">
                          <a:latin typeface="+mn-lt"/>
                        </a:rPr>
                        <a:t>How to ask for each by name</a:t>
                      </a:r>
                    </a:p>
                  </a:txBody>
                  <a:tcPr marL="63392" marR="63392" marT="31696" marB="316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endParaRPr lang="en-US" sz="1800" i="0" dirty="0">
                        <a:latin typeface="+mn-lt"/>
                      </a:endParaRP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3380110337"/>
                  </a:ext>
                </a:extLst>
              </a:tr>
              <a:tr h="911250">
                <a:tc>
                  <a:txBody>
                    <a:bodyPr/>
                    <a:lstStyle/>
                    <a:p>
                      <a:r>
                        <a:rPr lang="en-US" sz="1800" b="0" i="0" dirty="0">
                          <a:latin typeface="+mn-lt"/>
                        </a:rPr>
                        <a:t>Wait for your food</a:t>
                      </a: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1800" i="0" dirty="0">
                          <a:latin typeface="+mn-lt"/>
                        </a:rPr>
                        <a:t>What you will get back</a:t>
                      </a:r>
                    </a:p>
                  </a:txBody>
                  <a:tcPr marL="63392" marR="63392" marT="31696" marB="316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1800" i="0" dirty="0">
                          <a:latin typeface="+mn-lt"/>
                        </a:rPr>
                        <a:t>Server to You (Client)</a:t>
                      </a: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1970793786"/>
                  </a:ext>
                </a:extLst>
              </a:tr>
            </a:tbl>
          </a:graphicData>
        </a:graphic>
      </p:graphicFrame>
    </p:spTree>
    <p:extLst>
      <p:ext uri="{BB962C8B-B14F-4D97-AF65-F5344CB8AC3E}">
        <p14:creationId xmlns:p14="http://schemas.microsoft.com/office/powerpoint/2010/main" val="1244230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D36B2-8D01-9145-CF73-C0D0BBA7A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9A3F8-B66D-03AA-E2AE-6CD0BC81D7F0}"/>
              </a:ext>
            </a:extLst>
          </p:cNvPr>
          <p:cNvSpPr>
            <a:spLocks noGrp="1"/>
          </p:cNvSpPr>
          <p:nvPr>
            <p:ph type="title"/>
          </p:nvPr>
        </p:nvSpPr>
        <p:spPr>
          <a:xfrm>
            <a:off x="750367" y="816811"/>
            <a:ext cx="10691265" cy="1307592"/>
          </a:xfrm>
        </p:spPr>
        <p:txBody>
          <a:bodyPr/>
          <a:lstStyle/>
          <a:p>
            <a:r>
              <a:rPr lang="en-US" dirty="0"/>
              <a:t>Client – server (web terms)</a:t>
            </a:r>
          </a:p>
        </p:txBody>
      </p:sp>
      <p:sp>
        <p:nvSpPr>
          <p:cNvPr id="4" name="Content Placeholder 3">
            <a:extLst>
              <a:ext uri="{FF2B5EF4-FFF2-40B4-BE49-F238E27FC236}">
                <a16:creationId xmlns:a16="http://schemas.microsoft.com/office/drawing/2014/main" id="{17FA1280-525B-F0CE-6AB4-B36B76087EE2}"/>
              </a:ext>
            </a:extLst>
          </p:cNvPr>
          <p:cNvSpPr>
            <a:spLocks noGrp="1"/>
          </p:cNvSpPr>
          <p:nvPr>
            <p:ph idx="1"/>
          </p:nvPr>
        </p:nvSpPr>
        <p:spPr>
          <a:xfrm>
            <a:off x="750367" y="1960733"/>
            <a:ext cx="10930004" cy="4080455"/>
          </a:xfrm>
        </p:spPr>
        <p:txBody>
          <a:bodyPr>
            <a:normAutofit lnSpcReduction="10000"/>
          </a:bodyPr>
          <a:lstStyle/>
          <a:p>
            <a:r>
              <a:rPr lang="en-US" sz="2400" b="1" dirty="0"/>
              <a:t>Client</a:t>
            </a:r>
            <a:r>
              <a:rPr lang="en-US" sz="2400" dirty="0"/>
              <a:t>: Your web browser, Python program, Postman app, etc.</a:t>
            </a:r>
          </a:p>
          <a:p>
            <a:pPr marL="0" indent="0">
              <a:buNone/>
            </a:pPr>
            <a:r>
              <a:rPr lang="en-US" sz="2400" dirty="0"/>
              <a:t>                 Basically, anything that requests data.</a:t>
            </a:r>
          </a:p>
          <a:p>
            <a:pPr marL="0" indent="0">
              <a:buNone/>
            </a:pPr>
            <a:endParaRPr lang="en-US" sz="2400" dirty="0"/>
          </a:p>
          <a:p>
            <a:r>
              <a:rPr lang="en-US" sz="2400" b="1" dirty="0"/>
              <a:t>Server</a:t>
            </a:r>
            <a:r>
              <a:rPr lang="en-US" sz="2400" dirty="0"/>
              <a:t>:  A powerful computer running somewhere in the world that responds     </a:t>
            </a:r>
          </a:p>
          <a:p>
            <a:pPr marL="0" indent="0">
              <a:buNone/>
            </a:pPr>
            <a:r>
              <a:rPr lang="en-US" sz="2400" dirty="0"/>
              <a:t>                 with data.</a:t>
            </a:r>
          </a:p>
          <a:p>
            <a:endParaRPr lang="en-US" sz="2400" dirty="0"/>
          </a:p>
          <a:p>
            <a:r>
              <a:rPr lang="en-US" sz="2400" b="1" dirty="0"/>
              <a:t>API:</a:t>
            </a:r>
            <a:r>
              <a:rPr lang="en-US" sz="2400" dirty="0"/>
              <a:t>     (Application Programming Interface): The "menu" or "contract" that </a:t>
            </a:r>
          </a:p>
          <a:p>
            <a:pPr marL="0" indent="0">
              <a:buNone/>
            </a:pPr>
            <a:r>
              <a:rPr lang="en-US" sz="2400" dirty="0"/>
              <a:t>                 defines how a client and server can talk to each other.</a:t>
            </a:r>
          </a:p>
          <a:p>
            <a:endParaRPr lang="en-US" sz="2400" dirty="0"/>
          </a:p>
        </p:txBody>
      </p:sp>
    </p:spTree>
    <p:extLst>
      <p:ext uri="{BB962C8B-B14F-4D97-AF65-F5344CB8AC3E}">
        <p14:creationId xmlns:p14="http://schemas.microsoft.com/office/powerpoint/2010/main" val="1634185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614C6-D4B2-07F3-D150-6474F46BC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85413-DC5F-AF2C-C63C-2E525775895E}"/>
              </a:ext>
            </a:extLst>
          </p:cNvPr>
          <p:cNvSpPr>
            <a:spLocks noGrp="1"/>
          </p:cNvSpPr>
          <p:nvPr>
            <p:ph type="title"/>
          </p:nvPr>
        </p:nvSpPr>
        <p:spPr>
          <a:xfrm>
            <a:off x="750367" y="816811"/>
            <a:ext cx="10691265" cy="1307592"/>
          </a:xfrm>
        </p:spPr>
        <p:txBody>
          <a:bodyPr/>
          <a:lstStyle/>
          <a:p>
            <a:r>
              <a:rPr lang="en-US" dirty="0"/>
              <a:t>Client – server (Demo)</a:t>
            </a:r>
          </a:p>
        </p:txBody>
      </p:sp>
      <p:sp>
        <p:nvSpPr>
          <p:cNvPr id="4" name="Content Placeholder 3">
            <a:extLst>
              <a:ext uri="{FF2B5EF4-FFF2-40B4-BE49-F238E27FC236}">
                <a16:creationId xmlns:a16="http://schemas.microsoft.com/office/drawing/2014/main" id="{487E49A1-3F15-58D4-7114-B319EE8F46B0}"/>
              </a:ext>
            </a:extLst>
          </p:cNvPr>
          <p:cNvSpPr>
            <a:spLocks noGrp="1"/>
          </p:cNvSpPr>
          <p:nvPr>
            <p:ph idx="1"/>
          </p:nvPr>
        </p:nvSpPr>
        <p:spPr>
          <a:xfrm>
            <a:off x="750367" y="1960733"/>
            <a:ext cx="10930004" cy="4080455"/>
          </a:xfrm>
        </p:spPr>
        <p:txBody>
          <a:bodyPr>
            <a:normAutofit/>
          </a:bodyPr>
          <a:lstStyle/>
          <a:p>
            <a:r>
              <a:rPr lang="en-US" sz="2400" b="1" dirty="0"/>
              <a:t>Client</a:t>
            </a:r>
            <a:r>
              <a:rPr lang="en-US" sz="2400" dirty="0"/>
              <a:t>:  Your web browser makes a request to </a:t>
            </a:r>
            <a:r>
              <a:rPr lang="en-US" sz="2400" dirty="0">
                <a:solidFill>
                  <a:srgbClr val="778BA2"/>
                </a:solidFill>
                <a:hlinkClick r:id="rId2">
                  <a:extLst>
                    <a:ext uri="{A12FA001-AC4F-418D-AE19-62706E023703}">
                      <ahyp:hlinkClr xmlns:ahyp="http://schemas.microsoft.com/office/drawing/2018/hyperlinkcolor" val="tx"/>
                    </a:ext>
                  </a:extLst>
                </a:hlinkClick>
              </a:rPr>
              <a:t>https://www.northpark.edu</a:t>
            </a:r>
            <a:r>
              <a:rPr lang="en-US" sz="2400" dirty="0">
                <a:solidFill>
                  <a:srgbClr val="0070C0"/>
                </a:solidFill>
                <a:hlinkClick r:id="rId2">
                  <a:extLst>
                    <a:ext uri="{A12FA001-AC4F-418D-AE19-62706E023703}">
                      <ahyp:hlinkClr xmlns:ahyp="http://schemas.microsoft.com/office/drawing/2018/hyperlinkcolor" val="tx"/>
                    </a:ext>
                  </a:extLst>
                </a:hlinkClick>
              </a:rPr>
              <a:t>/</a:t>
            </a:r>
            <a:endParaRPr lang="en-US" sz="2400" dirty="0">
              <a:solidFill>
                <a:srgbClr val="0070C0"/>
              </a:solidFill>
            </a:endParaRPr>
          </a:p>
          <a:p>
            <a:pPr marL="0" indent="0">
              <a:buNone/>
            </a:pPr>
            <a:r>
              <a:rPr lang="en-US" sz="2400" dirty="0"/>
              <a:t>                  </a:t>
            </a:r>
            <a:r>
              <a:rPr lang="en-US" sz="2400" b="1" dirty="0"/>
              <a:t>(REQUEST)</a:t>
            </a:r>
          </a:p>
          <a:p>
            <a:pPr marL="0" indent="0">
              <a:buNone/>
            </a:pPr>
            <a:endParaRPr lang="en-US" sz="2400" b="1" dirty="0"/>
          </a:p>
          <a:p>
            <a:r>
              <a:rPr lang="en-US" sz="2400" b="1" dirty="0"/>
              <a:t>Server:</a:t>
            </a:r>
            <a:r>
              <a:rPr lang="en-US" sz="2400" dirty="0"/>
              <a:t> North Park’s servers send back HTML, CSS and images</a:t>
            </a:r>
          </a:p>
          <a:p>
            <a:pPr marL="914400" lvl="2" indent="0">
              <a:buNone/>
            </a:pPr>
            <a:r>
              <a:rPr lang="en-US" sz="2000" dirty="0"/>
              <a:t>      </a:t>
            </a:r>
            <a:r>
              <a:rPr lang="en-US" sz="2400" b="1" dirty="0"/>
              <a:t>(RESPONSE)</a:t>
            </a:r>
          </a:p>
          <a:p>
            <a:endParaRPr lang="en-US" sz="2400" dirty="0"/>
          </a:p>
          <a:p>
            <a:r>
              <a:rPr lang="en-US" sz="2400" dirty="0"/>
              <a:t>Your browser assembles it all into what you see.</a:t>
            </a:r>
          </a:p>
        </p:txBody>
      </p:sp>
    </p:spTree>
    <p:extLst>
      <p:ext uri="{BB962C8B-B14F-4D97-AF65-F5344CB8AC3E}">
        <p14:creationId xmlns:p14="http://schemas.microsoft.com/office/powerpoint/2010/main" val="3185809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0916F-951C-D139-DA5E-617DBA8EC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18DBC-08CC-4A2F-45A2-A05AB35F4503}"/>
              </a:ext>
            </a:extLst>
          </p:cNvPr>
          <p:cNvSpPr>
            <a:spLocks noGrp="1"/>
          </p:cNvSpPr>
          <p:nvPr>
            <p:ph type="title"/>
          </p:nvPr>
        </p:nvSpPr>
        <p:spPr>
          <a:xfrm>
            <a:off x="750367" y="816811"/>
            <a:ext cx="10691265" cy="1307592"/>
          </a:xfrm>
        </p:spPr>
        <p:txBody>
          <a:bodyPr/>
          <a:lstStyle/>
          <a:p>
            <a:r>
              <a:rPr lang="en-US" dirty="0"/>
              <a:t>HTTP</a:t>
            </a:r>
          </a:p>
        </p:txBody>
      </p:sp>
      <p:sp>
        <p:nvSpPr>
          <p:cNvPr id="4" name="Content Placeholder 3">
            <a:extLst>
              <a:ext uri="{FF2B5EF4-FFF2-40B4-BE49-F238E27FC236}">
                <a16:creationId xmlns:a16="http://schemas.microsoft.com/office/drawing/2014/main" id="{4EC9EF54-7FDB-B33E-94A5-52ADF2232A36}"/>
              </a:ext>
            </a:extLst>
          </p:cNvPr>
          <p:cNvSpPr>
            <a:spLocks noGrp="1"/>
          </p:cNvSpPr>
          <p:nvPr>
            <p:ph idx="1"/>
          </p:nvPr>
        </p:nvSpPr>
        <p:spPr>
          <a:xfrm>
            <a:off x="750367" y="1960733"/>
            <a:ext cx="10930004" cy="4080455"/>
          </a:xfrm>
        </p:spPr>
        <p:txBody>
          <a:bodyPr>
            <a:normAutofit/>
          </a:bodyPr>
          <a:lstStyle/>
          <a:p>
            <a:r>
              <a:rPr lang="en-US" sz="2400" dirty="0"/>
              <a:t>Hypertext Transfer Protocol. </a:t>
            </a:r>
          </a:p>
          <a:p>
            <a:endParaRPr lang="en-US" sz="2400" dirty="0"/>
          </a:p>
          <a:p>
            <a:r>
              <a:rPr lang="en-US" sz="2400" dirty="0"/>
              <a:t>The language the client uses to communicate with the server. </a:t>
            </a:r>
          </a:p>
          <a:p>
            <a:endParaRPr lang="en-US" sz="2400" dirty="0"/>
          </a:p>
          <a:p>
            <a:r>
              <a:rPr lang="en-US" sz="2400" dirty="0"/>
              <a:t>The set of rules (a protocol) that allows your computer (or phone, browser, app, etc.) to talk to servers on the internet, fetch data like web pages or APIs, send data, and display results.</a:t>
            </a:r>
            <a:endParaRPr lang="en-US" sz="2400" b="1" dirty="0"/>
          </a:p>
          <a:p>
            <a:pPr marL="0" indent="0">
              <a:buNone/>
            </a:pPr>
            <a:endParaRPr lang="en-US" sz="2400" b="1" dirty="0"/>
          </a:p>
        </p:txBody>
      </p:sp>
    </p:spTree>
    <p:extLst>
      <p:ext uri="{BB962C8B-B14F-4D97-AF65-F5344CB8AC3E}">
        <p14:creationId xmlns:p14="http://schemas.microsoft.com/office/powerpoint/2010/main" val="3917402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EAA03-02C7-8F92-5B5A-F6C6E67CF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2840E-1B60-B033-7E2A-499B6B348800}"/>
              </a:ext>
            </a:extLst>
          </p:cNvPr>
          <p:cNvSpPr>
            <a:spLocks noGrp="1"/>
          </p:cNvSpPr>
          <p:nvPr>
            <p:ph type="title"/>
          </p:nvPr>
        </p:nvSpPr>
        <p:spPr>
          <a:xfrm>
            <a:off x="750367" y="816811"/>
            <a:ext cx="10691265" cy="1307592"/>
          </a:xfrm>
        </p:spPr>
        <p:txBody>
          <a:bodyPr/>
          <a:lstStyle/>
          <a:p>
            <a:r>
              <a:rPr lang="en-US" dirty="0"/>
              <a:t>ANATOMY of a </a:t>
            </a:r>
            <a:r>
              <a:rPr lang="en-US" dirty="0" err="1"/>
              <a:t>url</a:t>
            </a:r>
            <a:endParaRPr lang="en-US" dirty="0"/>
          </a:p>
        </p:txBody>
      </p:sp>
      <p:sp>
        <p:nvSpPr>
          <p:cNvPr id="4" name="Content Placeholder 3">
            <a:extLst>
              <a:ext uri="{FF2B5EF4-FFF2-40B4-BE49-F238E27FC236}">
                <a16:creationId xmlns:a16="http://schemas.microsoft.com/office/drawing/2014/main" id="{B01DFC86-896B-8880-B875-4CB1F06232F7}"/>
              </a:ext>
            </a:extLst>
          </p:cNvPr>
          <p:cNvSpPr>
            <a:spLocks noGrp="1"/>
          </p:cNvSpPr>
          <p:nvPr>
            <p:ph idx="1"/>
          </p:nvPr>
        </p:nvSpPr>
        <p:spPr>
          <a:xfrm>
            <a:off x="750367" y="1677322"/>
            <a:ext cx="10930004" cy="4363867"/>
          </a:xfrm>
        </p:spPr>
        <p:txBody>
          <a:bodyPr>
            <a:normAutofit fontScale="92500" lnSpcReduction="10000"/>
          </a:bodyPr>
          <a:lstStyle/>
          <a:p>
            <a:pPr marL="0" indent="0">
              <a:buNone/>
            </a:pPr>
            <a:r>
              <a:rPr lang="en-US" sz="2400" b="1" dirty="0"/>
              <a:t>Uniform Resource Locator:</a:t>
            </a:r>
          </a:p>
          <a:p>
            <a:pPr marL="0" indent="0">
              <a:buNone/>
            </a:pPr>
            <a:r>
              <a:rPr lang="en-US" sz="2400" dirty="0"/>
              <a:t>   Full address of a specific resource on the internet.</a:t>
            </a:r>
          </a:p>
          <a:p>
            <a:pPr marL="0" indent="0">
              <a:buNone/>
            </a:pPr>
            <a:endParaRPr lang="en-US" sz="2400" dirty="0"/>
          </a:p>
          <a:p>
            <a:pPr marL="0" indent="0">
              <a:buNone/>
            </a:pPr>
            <a:r>
              <a:rPr lang="en-US" sz="2400" dirty="0"/>
              <a:t>Example; </a:t>
            </a:r>
            <a:r>
              <a:rPr lang="en-US" sz="2400" dirty="0">
                <a:hlinkClick r:id="rId2"/>
              </a:rPr>
              <a:t>https://jsonplaceholder.typicode.com/posts?userId=1</a:t>
            </a:r>
            <a:endParaRPr lang="en-US" sz="2400" dirty="0"/>
          </a:p>
          <a:p>
            <a:pPr marL="0" indent="0">
              <a:buNone/>
            </a:pPr>
            <a:endParaRPr lang="en-US" sz="2400" dirty="0"/>
          </a:p>
          <a:p>
            <a:r>
              <a:rPr lang="en-US" sz="2400" b="1" dirty="0"/>
              <a:t>https</a:t>
            </a:r>
            <a:r>
              <a:rPr lang="en-US" sz="2400" dirty="0"/>
              <a:t> → protocol (secure HTTP)  </a:t>
            </a:r>
          </a:p>
          <a:p>
            <a:r>
              <a:rPr lang="en-US" sz="2400" b="1" dirty="0"/>
              <a:t>jsonplaceholder.typicode.com </a:t>
            </a:r>
            <a:r>
              <a:rPr lang="en-US" sz="2400" dirty="0"/>
              <a:t>→ server (domain)  </a:t>
            </a:r>
          </a:p>
          <a:p>
            <a:r>
              <a:rPr lang="en-US" sz="2400" b="1" dirty="0"/>
              <a:t>/posts </a:t>
            </a:r>
            <a:r>
              <a:rPr lang="en-US" sz="2400" dirty="0"/>
              <a:t>→ path (resource) on the server  </a:t>
            </a:r>
          </a:p>
          <a:p>
            <a:r>
              <a:rPr lang="en-US" sz="2400" b="1" dirty="0"/>
              <a:t>?userId=1 </a:t>
            </a:r>
            <a:r>
              <a:rPr lang="en-US" sz="2400" dirty="0"/>
              <a:t>→ query parameter (`userId` equals 1) – returns record(s) where userId is 1</a:t>
            </a:r>
          </a:p>
        </p:txBody>
      </p:sp>
    </p:spTree>
    <p:extLst>
      <p:ext uri="{BB962C8B-B14F-4D97-AF65-F5344CB8AC3E}">
        <p14:creationId xmlns:p14="http://schemas.microsoft.com/office/powerpoint/2010/main" val="2352599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389C-6328-D4A4-DFC7-E89A12A4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9F048-4431-914F-BE71-894AEB041618}"/>
              </a:ext>
            </a:extLst>
          </p:cNvPr>
          <p:cNvSpPr>
            <a:spLocks noGrp="1"/>
          </p:cNvSpPr>
          <p:nvPr>
            <p:ph type="title"/>
          </p:nvPr>
        </p:nvSpPr>
        <p:spPr>
          <a:xfrm>
            <a:off x="750367" y="816811"/>
            <a:ext cx="10691265" cy="1307592"/>
          </a:xfrm>
        </p:spPr>
        <p:txBody>
          <a:bodyPr/>
          <a:lstStyle/>
          <a:p>
            <a:r>
              <a:rPr lang="en-US" dirty="0"/>
              <a:t>HTTP Methods</a:t>
            </a:r>
          </a:p>
        </p:txBody>
      </p:sp>
      <p:graphicFrame>
        <p:nvGraphicFramePr>
          <p:cNvPr id="6" name="Content Placeholder 5">
            <a:extLst>
              <a:ext uri="{FF2B5EF4-FFF2-40B4-BE49-F238E27FC236}">
                <a16:creationId xmlns:a16="http://schemas.microsoft.com/office/drawing/2014/main" id="{3ECF2E35-D0A6-F551-FB11-CE505E54C1DB}"/>
              </a:ext>
            </a:extLst>
          </p:cNvPr>
          <p:cNvGraphicFramePr>
            <a:graphicFrameLocks noGrp="1"/>
          </p:cNvGraphicFramePr>
          <p:nvPr>
            <p:ph idx="1"/>
            <p:extLst>
              <p:ext uri="{D42A27DB-BD31-4B8C-83A1-F6EECF244321}">
                <p14:modId xmlns:p14="http://schemas.microsoft.com/office/powerpoint/2010/main" val="3447236005"/>
              </p:ext>
            </p:extLst>
          </p:nvPr>
        </p:nvGraphicFramePr>
        <p:xfrm>
          <a:off x="870110" y="1578594"/>
          <a:ext cx="10691265" cy="4223493"/>
        </p:xfrm>
        <a:graphic>
          <a:graphicData uri="http://schemas.openxmlformats.org/drawingml/2006/table">
            <a:tbl>
              <a:tblPr/>
              <a:tblGrid>
                <a:gridCol w="1666905">
                  <a:extLst>
                    <a:ext uri="{9D8B030D-6E8A-4147-A177-3AD203B41FA5}">
                      <a16:colId xmlns:a16="http://schemas.microsoft.com/office/drawing/2014/main" val="3308915305"/>
                    </a:ext>
                  </a:extLst>
                </a:gridCol>
                <a:gridCol w="9024360">
                  <a:extLst>
                    <a:ext uri="{9D8B030D-6E8A-4147-A177-3AD203B41FA5}">
                      <a16:colId xmlns:a16="http://schemas.microsoft.com/office/drawing/2014/main" val="2541104211"/>
                    </a:ext>
                  </a:extLst>
                </a:gridCol>
              </a:tblGrid>
              <a:tr h="697193">
                <a:tc>
                  <a:txBody>
                    <a:bodyPr/>
                    <a:lstStyle/>
                    <a:p>
                      <a:r>
                        <a:rPr lang="en-US" sz="1800" b="1" dirty="0">
                          <a:latin typeface="+mn-lt"/>
                        </a:rPr>
                        <a:t>Method</a:t>
                      </a:r>
                    </a:p>
                  </a:txBody>
                  <a:tcPr marL="63392" marR="63392" marT="31696" marB="31696"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sz="1800" b="1" dirty="0">
                          <a:latin typeface="+mn-lt"/>
                        </a:rPr>
                        <a:t>Function</a:t>
                      </a:r>
                    </a:p>
                  </a:txBody>
                  <a:tcPr marL="63392" marR="63392" marT="31696" marB="31696"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934266"/>
                  </a:ext>
                </a:extLst>
              </a:tr>
              <a:tr h="881575">
                <a:tc>
                  <a:txBody>
                    <a:bodyPr/>
                    <a:lstStyle/>
                    <a:p>
                      <a:r>
                        <a:rPr lang="en-US" sz="2000" dirty="0">
                          <a:latin typeface="+mn-lt"/>
                        </a:rPr>
                        <a:t>GET</a:t>
                      </a:r>
                      <a:endParaRPr lang="en-US" sz="2000" b="0" i="0" dirty="0">
                        <a:latin typeface="+mn-lt"/>
                      </a:endParaRP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sz="2000" i="0" dirty="0">
                          <a:latin typeface="+mn-lt"/>
                          <a:cs typeface="Courier New" panose="02070309020205020404" pitchFamily="49" charset="0"/>
                        </a:rPr>
                        <a:t>Retrieve this information (e.g., “GET the weather for Chicago”)</a:t>
                      </a: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548155359"/>
                  </a:ext>
                </a:extLst>
              </a:tr>
              <a:tr h="881575">
                <a:tc>
                  <a:txBody>
                    <a:bodyPr/>
                    <a:lstStyle/>
                    <a:p>
                      <a:r>
                        <a:rPr lang="en-US" sz="2000" dirty="0">
                          <a:latin typeface="+mn-lt"/>
                        </a:rPr>
                        <a:t>POST</a:t>
                      </a:r>
                      <a:endParaRPr lang="en-US" sz="2000" b="0" i="0" dirty="0">
                        <a:latin typeface="+mn-lt"/>
                      </a:endParaRP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2000" i="0" dirty="0">
                          <a:latin typeface="+mn-lt"/>
                        </a:rPr>
                        <a:t>Here is some information, please create a new record (e.g., “POST a new tweet”)</a:t>
                      </a: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2174739273"/>
                  </a:ext>
                </a:extLst>
              </a:tr>
              <a:tr h="881575">
                <a:tc>
                  <a:txBody>
                    <a:bodyPr/>
                    <a:lstStyle/>
                    <a:p>
                      <a:r>
                        <a:rPr lang="en-US" sz="2000" dirty="0">
                          <a:latin typeface="+mn-lt"/>
                        </a:rPr>
                        <a:t>PUT</a:t>
                      </a:r>
                      <a:endParaRPr lang="en-US" sz="2000" b="0" i="0" dirty="0">
                        <a:latin typeface="+mn-lt"/>
                      </a:endParaRP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2000" i="0" dirty="0">
                          <a:latin typeface="+mn-lt"/>
                        </a:rPr>
                        <a:t>Update this existing information. (e.g., “UPDATE my user profile”)</a:t>
                      </a: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3380110337"/>
                  </a:ext>
                </a:extLst>
              </a:tr>
              <a:tr h="881575">
                <a:tc>
                  <a:txBody>
                    <a:bodyPr/>
                    <a:lstStyle/>
                    <a:p>
                      <a:r>
                        <a:rPr lang="en-US" sz="2000" b="0" i="0" dirty="0">
                          <a:latin typeface="+mn-lt"/>
                        </a:rPr>
                        <a:t>DELETE</a:t>
                      </a:r>
                    </a:p>
                  </a:txBody>
                  <a:tcPr marL="63392" marR="63392" marT="31696" marB="31696"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noFill/>
                  </a:tcPr>
                </a:tc>
                <a:tc>
                  <a:txBody>
                    <a:bodyPr/>
                    <a:lstStyle/>
                    <a:p>
                      <a:r>
                        <a:rPr lang="en-US" sz="2000" i="0" dirty="0">
                          <a:latin typeface="+mn-lt"/>
                        </a:rPr>
                        <a:t>Please delete this information. (e.g., “DELETE this post”)</a:t>
                      </a:r>
                    </a:p>
                  </a:txBody>
                  <a:tcPr marL="63392" marR="63392" marT="31696" marB="31696"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extLst>
                  <a:ext uri="{0D108BD9-81ED-4DB2-BD59-A6C34878D82A}">
                    <a16:rowId xmlns:a16="http://schemas.microsoft.com/office/drawing/2014/main" val="1970793786"/>
                  </a:ext>
                </a:extLst>
              </a:tr>
            </a:tbl>
          </a:graphicData>
        </a:graphic>
      </p:graphicFrame>
    </p:spTree>
    <p:extLst>
      <p:ext uri="{BB962C8B-B14F-4D97-AF65-F5344CB8AC3E}">
        <p14:creationId xmlns:p14="http://schemas.microsoft.com/office/powerpoint/2010/main" val="267627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E50C-46C5-6CED-699F-17B096B727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4ABF2-DEEB-C03F-D464-6940ED82C697}"/>
              </a:ext>
            </a:extLst>
          </p:cNvPr>
          <p:cNvSpPr>
            <a:spLocks noGrp="1"/>
          </p:cNvSpPr>
          <p:nvPr>
            <p:ph type="title"/>
          </p:nvPr>
        </p:nvSpPr>
        <p:spPr>
          <a:xfrm>
            <a:off x="750367" y="816811"/>
            <a:ext cx="10691265" cy="1307592"/>
          </a:xfrm>
        </p:spPr>
        <p:txBody>
          <a:bodyPr/>
          <a:lstStyle/>
          <a:p>
            <a:r>
              <a:rPr lang="en-US" dirty="0"/>
              <a:t>Status codes</a:t>
            </a:r>
          </a:p>
        </p:txBody>
      </p:sp>
      <p:sp>
        <p:nvSpPr>
          <p:cNvPr id="4" name="Content Placeholder 3">
            <a:extLst>
              <a:ext uri="{FF2B5EF4-FFF2-40B4-BE49-F238E27FC236}">
                <a16:creationId xmlns:a16="http://schemas.microsoft.com/office/drawing/2014/main" id="{56E8E6E7-4A0F-843C-1C22-B262EF0D7E5B}"/>
              </a:ext>
            </a:extLst>
          </p:cNvPr>
          <p:cNvSpPr>
            <a:spLocks noGrp="1"/>
          </p:cNvSpPr>
          <p:nvPr>
            <p:ph idx="1"/>
          </p:nvPr>
        </p:nvSpPr>
        <p:spPr>
          <a:xfrm>
            <a:off x="750367" y="1906306"/>
            <a:ext cx="10991369" cy="3739896"/>
          </a:xfrm>
        </p:spPr>
        <p:txBody>
          <a:bodyPr>
            <a:normAutofit lnSpcReduction="10000"/>
          </a:bodyPr>
          <a:lstStyle/>
          <a:p>
            <a:r>
              <a:rPr lang="en-US" sz="2200" dirty="0">
                <a:solidFill>
                  <a:srgbClr val="009999"/>
                </a:solidFill>
              </a:rPr>
              <a:t>2XX</a:t>
            </a:r>
            <a:r>
              <a:rPr lang="en-US" sz="2200" dirty="0"/>
              <a:t> </a:t>
            </a:r>
            <a:r>
              <a:rPr lang="en-US" sz="2200" dirty="0">
                <a:solidFill>
                  <a:srgbClr val="009999"/>
                </a:solidFill>
              </a:rPr>
              <a:t>Success</a:t>
            </a:r>
            <a:r>
              <a:rPr lang="en-US" sz="2200" dirty="0"/>
              <a:t>: 200 OK </a:t>
            </a:r>
            <a:r>
              <a:rPr lang="en-US" sz="2200" dirty="0">
                <a:latin typeface="Consolas" panose="020B0609020204030204" pitchFamily="49" charset="0"/>
              </a:rPr>
              <a:t>(GET/PUT)</a:t>
            </a:r>
            <a:r>
              <a:rPr lang="en-US" sz="2200" dirty="0"/>
              <a:t>, 201 Created </a:t>
            </a:r>
            <a:r>
              <a:rPr lang="en-US" dirty="0">
                <a:latin typeface="Consolas" panose="020B0609020204030204" pitchFamily="49" charset="0"/>
              </a:rPr>
              <a:t>(POST)</a:t>
            </a:r>
            <a:r>
              <a:rPr lang="en-US" sz="2200" dirty="0"/>
              <a:t>, 204 No Content </a:t>
            </a:r>
            <a:r>
              <a:rPr lang="en-US" dirty="0">
                <a:latin typeface="Consolas" panose="020B0609020204030204" pitchFamily="49" charset="0"/>
              </a:rPr>
              <a:t>(DELETE)</a:t>
            </a:r>
            <a:endParaRPr lang="en-US" sz="2200" dirty="0">
              <a:latin typeface="Consolas" panose="020B0609020204030204" pitchFamily="49" charset="0"/>
            </a:endParaRPr>
          </a:p>
          <a:p>
            <a:pPr marL="0" indent="0">
              <a:buNone/>
            </a:pPr>
            <a:r>
              <a:rPr lang="en-US" sz="2200" dirty="0"/>
              <a:t> </a:t>
            </a:r>
          </a:p>
          <a:p>
            <a:r>
              <a:rPr lang="en-US" sz="2200" dirty="0">
                <a:solidFill>
                  <a:srgbClr val="CC6600"/>
                </a:solidFill>
              </a:rPr>
              <a:t>4XX Client Errors: </a:t>
            </a:r>
            <a:r>
              <a:rPr lang="en-US" sz="2200" dirty="0"/>
              <a:t>400 Bad Request, 401 Unauthorized, 403 Forbidden, 404 Not Found</a:t>
            </a:r>
          </a:p>
          <a:p>
            <a:pPr marL="0" indent="0">
              <a:buNone/>
            </a:pPr>
            <a:r>
              <a:rPr lang="en-US" sz="2200" dirty="0"/>
              <a:t>  </a:t>
            </a:r>
          </a:p>
          <a:p>
            <a:r>
              <a:rPr lang="en-US" sz="2200" dirty="0">
                <a:solidFill>
                  <a:srgbClr val="C00000"/>
                </a:solidFill>
              </a:rPr>
              <a:t>5XX Server Errors: </a:t>
            </a:r>
            <a:r>
              <a:rPr lang="en-US" sz="2200" dirty="0"/>
              <a:t>500 Internal Server Error, 502 Bad Gateway, 503 Service Unavailable</a:t>
            </a:r>
          </a:p>
          <a:p>
            <a:pPr marL="0" indent="0">
              <a:buNone/>
            </a:pPr>
            <a:endParaRPr lang="en-US" sz="2200" dirty="0"/>
          </a:p>
          <a:p>
            <a:pPr marL="0" indent="0">
              <a:buNone/>
            </a:pPr>
            <a:r>
              <a:rPr lang="en-US" sz="2200" b="1" dirty="0"/>
              <a:t>Why they matter?</a:t>
            </a:r>
          </a:p>
          <a:p>
            <a:pPr marL="0" indent="0">
              <a:buNone/>
            </a:pPr>
            <a:r>
              <a:rPr lang="en-US" sz="2200" dirty="0"/>
              <a:t> Your code should check the status code and handle errors nicely.</a:t>
            </a:r>
          </a:p>
        </p:txBody>
      </p:sp>
    </p:spTree>
    <p:extLst>
      <p:ext uri="{BB962C8B-B14F-4D97-AF65-F5344CB8AC3E}">
        <p14:creationId xmlns:p14="http://schemas.microsoft.com/office/powerpoint/2010/main" val="4078769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39B786-C608-A28C-71D9-ECDC6DA22EB4}"/>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3148C0-3315-8B59-6280-43CEE57109E9}"/>
              </a:ext>
            </a:extLst>
          </p:cNvPr>
          <p:cNvSpPr>
            <a:spLocks noGrp="1"/>
          </p:cNvSpPr>
          <p:nvPr>
            <p:ph type="title"/>
          </p:nvPr>
        </p:nvSpPr>
        <p:spPr>
          <a:xfrm>
            <a:off x="957704" y="786824"/>
            <a:ext cx="3330906" cy="660974"/>
          </a:xfrm>
        </p:spPr>
        <p:txBody>
          <a:bodyPr vert="horz" lIns="91440" tIns="45720" rIns="91440" bIns="45720" rtlCol="0" anchor="t">
            <a:normAutofit fontScale="90000"/>
          </a:bodyPr>
          <a:lstStyle/>
          <a:p>
            <a:r>
              <a:rPr lang="en-US" sz="4200" dirty="0"/>
              <a:t>Status codes</a:t>
            </a:r>
          </a:p>
        </p:txBody>
      </p:sp>
      <p:cxnSp>
        <p:nvCxnSpPr>
          <p:cNvPr id="23" name="Straight Connector 22">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2399DABF-82DA-3F5B-026E-FABFDF02426B}"/>
              </a:ext>
            </a:extLst>
          </p:cNvPr>
          <p:cNvGraphicFramePr>
            <a:graphicFrameLocks noGrp="1"/>
          </p:cNvGraphicFramePr>
          <p:nvPr>
            <p:extLst>
              <p:ext uri="{D42A27DB-BD31-4B8C-83A1-F6EECF244321}">
                <p14:modId xmlns:p14="http://schemas.microsoft.com/office/powerpoint/2010/main" val="1925551937"/>
              </p:ext>
            </p:extLst>
          </p:nvPr>
        </p:nvGraphicFramePr>
        <p:xfrm>
          <a:off x="957705" y="1447798"/>
          <a:ext cx="10163686" cy="4484371"/>
        </p:xfrm>
        <a:graphic>
          <a:graphicData uri="http://schemas.openxmlformats.org/drawingml/2006/table">
            <a:tbl>
              <a:tblPr firstRow="1" bandRow="1">
                <a:tableStyleId>{9D7B26C5-4107-4FEC-AEDC-1716B250A1EF}</a:tableStyleId>
              </a:tblPr>
              <a:tblGrid>
                <a:gridCol w="944927">
                  <a:extLst>
                    <a:ext uri="{9D8B030D-6E8A-4147-A177-3AD203B41FA5}">
                      <a16:colId xmlns:a16="http://schemas.microsoft.com/office/drawing/2014/main" val="3470041711"/>
                    </a:ext>
                  </a:extLst>
                </a:gridCol>
                <a:gridCol w="1904067">
                  <a:extLst>
                    <a:ext uri="{9D8B030D-6E8A-4147-A177-3AD203B41FA5}">
                      <a16:colId xmlns:a16="http://schemas.microsoft.com/office/drawing/2014/main" val="2965908943"/>
                    </a:ext>
                  </a:extLst>
                </a:gridCol>
                <a:gridCol w="1574073">
                  <a:extLst>
                    <a:ext uri="{9D8B030D-6E8A-4147-A177-3AD203B41FA5}">
                      <a16:colId xmlns:a16="http://schemas.microsoft.com/office/drawing/2014/main" val="2605551073"/>
                    </a:ext>
                  </a:extLst>
                </a:gridCol>
                <a:gridCol w="5740619">
                  <a:extLst>
                    <a:ext uri="{9D8B030D-6E8A-4147-A177-3AD203B41FA5}">
                      <a16:colId xmlns:a16="http://schemas.microsoft.com/office/drawing/2014/main" val="1137279654"/>
                    </a:ext>
                  </a:extLst>
                </a:gridCol>
              </a:tblGrid>
              <a:tr h="358606">
                <a:tc>
                  <a:txBody>
                    <a:bodyPr/>
                    <a:lstStyle/>
                    <a:p>
                      <a:pPr rtl="0">
                        <a:buNone/>
                      </a:pPr>
                      <a:r>
                        <a:rPr lang="en-US" sz="1400" b="1">
                          <a:solidFill>
                            <a:srgbClr val="1F1F1F"/>
                          </a:solidFill>
                          <a:effectLst/>
                        </a:rPr>
                        <a:t>Code</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Name</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Meaning</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Common Causes</a:t>
                      </a:r>
                      <a:endParaRPr lang="en-US" sz="140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2798623011"/>
                  </a:ext>
                </a:extLst>
              </a:tr>
              <a:tr h="589395">
                <a:tc>
                  <a:txBody>
                    <a:bodyPr/>
                    <a:lstStyle/>
                    <a:p>
                      <a:pPr rtl="0">
                        <a:buNone/>
                      </a:pPr>
                      <a:r>
                        <a:rPr lang="en-US" sz="1400" b="1">
                          <a:solidFill>
                            <a:srgbClr val="1F1F1F"/>
                          </a:solidFill>
                          <a:effectLst/>
                        </a:rPr>
                        <a:t>200</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OK</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Success!</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dirty="0">
                          <a:solidFill>
                            <a:srgbClr val="1F1F1F"/>
                          </a:solidFill>
                          <a:effectLst/>
                        </a:rPr>
                        <a:t>The request worked perfectly (e.g., your AAPL ticker data was returned).</a:t>
                      </a:r>
                      <a:endParaRPr lang="en-US" sz="1400" dirty="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400198373"/>
                  </a:ext>
                </a:extLst>
              </a:tr>
              <a:tr h="589395">
                <a:tc>
                  <a:txBody>
                    <a:bodyPr/>
                    <a:lstStyle/>
                    <a:p>
                      <a:pPr rtl="0">
                        <a:buNone/>
                      </a:pPr>
                      <a:r>
                        <a:rPr lang="en-US" sz="1400" b="1">
                          <a:solidFill>
                            <a:srgbClr val="1F1F1F"/>
                          </a:solidFill>
                          <a:effectLst/>
                        </a:rPr>
                        <a:t>400</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Bad Request</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Client Error</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The server didn't understand the request (often due to a syntax error in your JSON).</a:t>
                      </a:r>
                      <a:endParaRPr lang="en-US" sz="140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1322181019"/>
                  </a:ext>
                </a:extLst>
              </a:tr>
              <a:tr h="589395">
                <a:tc>
                  <a:txBody>
                    <a:bodyPr/>
                    <a:lstStyle/>
                    <a:p>
                      <a:pPr rtl="0">
                        <a:buNone/>
                      </a:pPr>
                      <a:r>
                        <a:rPr lang="en-US" sz="1400" b="1">
                          <a:solidFill>
                            <a:srgbClr val="1F1F1F"/>
                          </a:solidFill>
                          <a:effectLst/>
                        </a:rPr>
                        <a:t>401</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Unauthorized</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Client Error</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dirty="0">
                          <a:solidFill>
                            <a:srgbClr val="1F1F1F"/>
                          </a:solidFill>
                          <a:effectLst/>
                        </a:rPr>
                        <a:t>You aren't authenticated. In your case, it's likely that </a:t>
                      </a:r>
                      <a:r>
                        <a:rPr lang="en-US" sz="1400" b="1" dirty="0">
                          <a:solidFill>
                            <a:srgbClr val="1F1F1F"/>
                          </a:solidFill>
                          <a:effectLst/>
                        </a:rPr>
                        <a:t>GitHub PAT</a:t>
                      </a:r>
                      <a:r>
                        <a:rPr lang="en-US" sz="1400" dirty="0">
                          <a:solidFill>
                            <a:srgbClr val="1F1F1F"/>
                          </a:solidFill>
                          <a:effectLst/>
                        </a:rPr>
                        <a:t> being invalid or expired.</a:t>
                      </a:r>
                      <a:endParaRPr lang="en-US" sz="1400" dirty="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2681671195"/>
                  </a:ext>
                </a:extLst>
              </a:tr>
              <a:tr h="589395">
                <a:tc>
                  <a:txBody>
                    <a:bodyPr/>
                    <a:lstStyle/>
                    <a:p>
                      <a:pPr rtl="0">
                        <a:buNone/>
                      </a:pPr>
                      <a:r>
                        <a:rPr lang="en-US" sz="1400" b="1">
                          <a:solidFill>
                            <a:srgbClr val="1F1F1F"/>
                          </a:solidFill>
                          <a:effectLst/>
                        </a:rPr>
                        <a:t>403</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Forbidden</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Client Error</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You are authenticated, but you don't have permission to see this specific resource.</a:t>
                      </a:r>
                      <a:endParaRPr lang="en-US" sz="140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3340039959"/>
                  </a:ext>
                </a:extLst>
              </a:tr>
              <a:tr h="589395">
                <a:tc>
                  <a:txBody>
                    <a:bodyPr/>
                    <a:lstStyle/>
                    <a:p>
                      <a:pPr rtl="0">
                        <a:buNone/>
                      </a:pPr>
                      <a:r>
                        <a:rPr lang="en-US" sz="1400" b="1">
                          <a:solidFill>
                            <a:srgbClr val="1F1F1F"/>
                          </a:solidFill>
                          <a:effectLst/>
                        </a:rPr>
                        <a:t>404</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Not Found</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Client Error</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The specific URL or endpoint you're hitting doesn't exist.</a:t>
                      </a:r>
                      <a:endParaRPr lang="en-US" sz="140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1657454257"/>
                  </a:ext>
                </a:extLst>
              </a:tr>
              <a:tr h="589395">
                <a:tc>
                  <a:txBody>
                    <a:bodyPr/>
                    <a:lstStyle/>
                    <a:p>
                      <a:pPr rtl="0">
                        <a:buNone/>
                      </a:pPr>
                      <a:r>
                        <a:rPr lang="en-US" sz="1400" b="1">
                          <a:solidFill>
                            <a:srgbClr val="1F1F1F"/>
                          </a:solidFill>
                          <a:effectLst/>
                        </a:rPr>
                        <a:t>500</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Internal Server Error</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Server Error</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dirty="0">
                          <a:solidFill>
                            <a:srgbClr val="1F1F1F"/>
                          </a:solidFill>
                          <a:effectLst/>
                        </a:rPr>
                        <a:t>A generic "something went wrong" on the server's end.</a:t>
                      </a:r>
                      <a:endParaRPr lang="en-US" sz="1400" dirty="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1301276353"/>
                  </a:ext>
                </a:extLst>
              </a:tr>
              <a:tr h="589395">
                <a:tc>
                  <a:txBody>
                    <a:bodyPr/>
                    <a:lstStyle/>
                    <a:p>
                      <a:pPr rtl="0">
                        <a:buNone/>
                      </a:pPr>
                      <a:r>
                        <a:rPr lang="en-US" sz="1400" b="1">
                          <a:solidFill>
                            <a:srgbClr val="1F1F1F"/>
                          </a:solidFill>
                          <a:effectLst/>
                        </a:rPr>
                        <a:t>502</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b="1">
                          <a:solidFill>
                            <a:srgbClr val="1F1F1F"/>
                          </a:solidFill>
                          <a:effectLst/>
                        </a:rPr>
                        <a:t>Bad Gateway</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a:solidFill>
                            <a:srgbClr val="1F1F1F"/>
                          </a:solidFill>
                          <a:effectLst/>
                        </a:rPr>
                        <a:t>Server Error</a:t>
                      </a:r>
                      <a:endParaRPr lang="en-US" sz="1400">
                        <a:solidFill>
                          <a:srgbClr val="1F1F1F"/>
                        </a:solidFill>
                        <a:effectLst/>
                        <a:latin typeface="Google Sans Text"/>
                      </a:endParaRPr>
                    </a:p>
                  </a:txBody>
                  <a:tcPr marL="49229" marR="49229" marT="32819" marB="32819" anchor="ctr"/>
                </a:tc>
                <a:tc>
                  <a:txBody>
                    <a:bodyPr/>
                    <a:lstStyle/>
                    <a:p>
                      <a:pPr rtl="0">
                        <a:buNone/>
                      </a:pPr>
                      <a:r>
                        <a:rPr lang="en-US" sz="1400" dirty="0">
                          <a:solidFill>
                            <a:srgbClr val="1F1F1F"/>
                          </a:solidFill>
                          <a:effectLst/>
                        </a:rPr>
                        <a:t>One server received an invalid response from another server it was trying to talk to.</a:t>
                      </a:r>
                      <a:endParaRPr lang="en-US" sz="1400" dirty="0">
                        <a:solidFill>
                          <a:srgbClr val="1F1F1F"/>
                        </a:solidFill>
                        <a:effectLst/>
                        <a:latin typeface="Google Sans Text"/>
                      </a:endParaRPr>
                    </a:p>
                  </a:txBody>
                  <a:tcPr marL="49229" marR="49229" marT="32819" marB="32819" anchor="ctr"/>
                </a:tc>
                <a:extLst>
                  <a:ext uri="{0D108BD9-81ED-4DB2-BD59-A6C34878D82A}">
                    <a16:rowId xmlns:a16="http://schemas.microsoft.com/office/drawing/2014/main" val="3447207295"/>
                  </a:ext>
                </a:extLst>
              </a:tr>
            </a:tbl>
          </a:graphicData>
        </a:graphic>
      </p:graphicFrame>
    </p:spTree>
    <p:extLst>
      <p:ext uri="{BB962C8B-B14F-4D97-AF65-F5344CB8AC3E}">
        <p14:creationId xmlns:p14="http://schemas.microsoft.com/office/powerpoint/2010/main" val="4234403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780A9-A7D9-257E-35CA-F2E5C6EA4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21DF6-4406-9AEC-2D89-52B6203E5EFA}"/>
              </a:ext>
            </a:extLst>
          </p:cNvPr>
          <p:cNvSpPr>
            <a:spLocks noGrp="1"/>
          </p:cNvSpPr>
          <p:nvPr>
            <p:ph type="title"/>
          </p:nvPr>
        </p:nvSpPr>
        <p:spPr>
          <a:xfrm>
            <a:off x="750367" y="816811"/>
            <a:ext cx="10691265" cy="1307592"/>
          </a:xfrm>
        </p:spPr>
        <p:txBody>
          <a:bodyPr/>
          <a:lstStyle/>
          <a:p>
            <a:r>
              <a:rPr lang="en-US" dirty="0"/>
              <a:t>auth</a:t>
            </a:r>
          </a:p>
        </p:txBody>
      </p:sp>
      <p:sp>
        <p:nvSpPr>
          <p:cNvPr id="4" name="Content Placeholder 3">
            <a:extLst>
              <a:ext uri="{FF2B5EF4-FFF2-40B4-BE49-F238E27FC236}">
                <a16:creationId xmlns:a16="http://schemas.microsoft.com/office/drawing/2014/main" id="{A1283F1B-C848-3B8A-8720-5AE3B38D4A4D}"/>
              </a:ext>
            </a:extLst>
          </p:cNvPr>
          <p:cNvSpPr>
            <a:spLocks noGrp="1"/>
          </p:cNvSpPr>
          <p:nvPr>
            <p:ph idx="1"/>
          </p:nvPr>
        </p:nvSpPr>
        <p:spPr>
          <a:xfrm>
            <a:off x="750367" y="2124403"/>
            <a:ext cx="10991369" cy="3739896"/>
          </a:xfrm>
        </p:spPr>
        <p:txBody>
          <a:bodyPr>
            <a:normAutofit/>
          </a:bodyPr>
          <a:lstStyle/>
          <a:p>
            <a:r>
              <a:rPr lang="en-US" sz="2200" b="1" dirty="0"/>
              <a:t>API Key: </a:t>
            </a:r>
            <a:r>
              <a:rPr lang="en-US" sz="2200" dirty="0"/>
              <a:t>a secret string you send (often in a header)</a:t>
            </a:r>
          </a:p>
          <a:p>
            <a:pPr marL="0" indent="0">
              <a:buNone/>
            </a:pPr>
            <a:r>
              <a:rPr lang="en-US" sz="2200" dirty="0"/>
              <a:t> </a:t>
            </a:r>
          </a:p>
          <a:p>
            <a:r>
              <a:rPr lang="en-US" sz="2200" b="1" dirty="0"/>
              <a:t>Basic Auth: </a:t>
            </a:r>
            <a:r>
              <a:rPr lang="en-US" sz="2200" dirty="0"/>
              <a:t>username, password (only over </a:t>
            </a:r>
            <a:r>
              <a:rPr lang="en-US" sz="2200" b="1" dirty="0">
                <a:latin typeface="Consolas" panose="020B0609020204030204" pitchFamily="49" charset="0"/>
              </a:rPr>
              <a:t>HTTPS</a:t>
            </a:r>
            <a:r>
              <a:rPr lang="en-US" sz="2200" dirty="0"/>
              <a:t>)</a:t>
            </a:r>
          </a:p>
          <a:p>
            <a:pPr marL="0" indent="0">
              <a:buNone/>
            </a:pPr>
            <a:r>
              <a:rPr lang="en-US" sz="2200" dirty="0"/>
              <a:t>  </a:t>
            </a:r>
          </a:p>
          <a:p>
            <a:r>
              <a:rPr lang="en-US" sz="2200" b="1" dirty="0"/>
              <a:t>Bearer Token / OAuth2/ JWT:</a:t>
            </a:r>
            <a:r>
              <a:rPr lang="en-US" sz="2200" dirty="0"/>
              <a:t> You send a token in the `Authorization` header</a:t>
            </a:r>
          </a:p>
          <a:p>
            <a:pPr marL="0" indent="0">
              <a:buNone/>
            </a:pPr>
            <a:endParaRPr lang="en-US" sz="2200" dirty="0"/>
          </a:p>
        </p:txBody>
      </p:sp>
    </p:spTree>
    <p:extLst>
      <p:ext uri="{BB962C8B-B14F-4D97-AF65-F5344CB8AC3E}">
        <p14:creationId xmlns:p14="http://schemas.microsoft.com/office/powerpoint/2010/main" val="1090956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1A9AF-272A-5286-EB4F-2B06365C5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82E899-BE8C-503A-BAA9-1ABFCA70CD5A}"/>
              </a:ext>
            </a:extLst>
          </p:cNvPr>
          <p:cNvSpPr>
            <a:spLocks noGrp="1"/>
          </p:cNvSpPr>
          <p:nvPr>
            <p:ph type="title"/>
          </p:nvPr>
        </p:nvSpPr>
        <p:spPr>
          <a:xfrm>
            <a:off x="750367" y="816811"/>
            <a:ext cx="10691265" cy="1307592"/>
          </a:xfrm>
        </p:spPr>
        <p:txBody>
          <a:bodyPr/>
          <a:lstStyle/>
          <a:p>
            <a:r>
              <a:rPr lang="en-US" dirty="0"/>
              <a:t>Class exercise</a:t>
            </a:r>
          </a:p>
        </p:txBody>
      </p:sp>
      <p:sp>
        <p:nvSpPr>
          <p:cNvPr id="4" name="Content Placeholder 3">
            <a:extLst>
              <a:ext uri="{FF2B5EF4-FFF2-40B4-BE49-F238E27FC236}">
                <a16:creationId xmlns:a16="http://schemas.microsoft.com/office/drawing/2014/main" id="{81BD787B-A7C1-5136-C0E7-0D71417E1453}"/>
              </a:ext>
            </a:extLst>
          </p:cNvPr>
          <p:cNvSpPr>
            <a:spLocks noGrp="1"/>
          </p:cNvSpPr>
          <p:nvPr>
            <p:ph idx="1"/>
          </p:nvPr>
        </p:nvSpPr>
        <p:spPr>
          <a:xfrm>
            <a:off x="750367" y="2124403"/>
            <a:ext cx="10991369" cy="3739896"/>
          </a:xfrm>
        </p:spPr>
        <p:txBody>
          <a:bodyPr>
            <a:normAutofit/>
          </a:bodyPr>
          <a:lstStyle/>
          <a:p>
            <a:r>
              <a:rPr lang="en-US" sz="2400" dirty="0"/>
              <a:t>Download postman or use your web browser</a:t>
            </a:r>
          </a:p>
          <a:p>
            <a:r>
              <a:rPr lang="en-US" sz="2400" dirty="0"/>
              <a:t>Make HTTP Request for data available at the following URLs or End points</a:t>
            </a:r>
          </a:p>
          <a:p>
            <a:pPr marL="0" indent="0">
              <a:buNone/>
            </a:pPr>
            <a:r>
              <a:rPr lang="en-US" sz="2200" dirty="0"/>
              <a:t> </a:t>
            </a:r>
          </a:p>
          <a:p>
            <a:r>
              <a:rPr lang="en-US" sz="2200" dirty="0">
                <a:latin typeface="Consolas" panose="020B0609020204030204" pitchFamily="49" charset="0"/>
                <a:hlinkClick r:id="rId2"/>
              </a:rPr>
              <a:t>https://jsonplaceholder.typicode.com/todos?userId=2</a:t>
            </a:r>
            <a:endParaRPr lang="en-US" sz="2200" dirty="0">
              <a:latin typeface="Consolas" panose="020B0609020204030204" pitchFamily="49" charset="0"/>
            </a:endParaRPr>
          </a:p>
          <a:p>
            <a:r>
              <a:rPr lang="en-US" sz="2200" dirty="0">
                <a:latin typeface="Consolas" panose="020B0609020204030204" pitchFamily="49" charset="0"/>
                <a:hlinkClick r:id="rId3"/>
              </a:rPr>
              <a:t>https://jsonplaceholder.typicode.com/posts?userId=1</a:t>
            </a:r>
            <a:endParaRPr lang="en-US" sz="2200" dirty="0">
              <a:latin typeface="Consolas" panose="020B0609020204030204" pitchFamily="49" charset="0"/>
            </a:endParaRPr>
          </a:p>
          <a:p>
            <a:r>
              <a:rPr lang="en-US" sz="2400" dirty="0">
                <a:latin typeface="Consolas" panose="020B0609020204030204" pitchFamily="49" charset="0"/>
                <a:hlinkClick r:id="rId4"/>
              </a:rPr>
              <a:t>https://reqres.in/api/users?page=1</a:t>
            </a:r>
            <a:endParaRPr lang="en-US" sz="2400" dirty="0">
              <a:latin typeface="Consolas" panose="020B0609020204030204" pitchFamily="49" charset="0"/>
            </a:endParaRPr>
          </a:p>
          <a:p>
            <a:pPr marL="0" indent="0">
              <a:buNone/>
            </a:pPr>
            <a:endParaRPr lang="en-US" sz="2400" dirty="0">
              <a:latin typeface="Consolas" panose="020B0609020204030204" pitchFamily="49" charset="0"/>
            </a:endParaRPr>
          </a:p>
          <a:p>
            <a:endParaRPr lang="en-US" sz="2200" dirty="0">
              <a:latin typeface="Consolas" panose="020B0609020204030204" pitchFamily="49" charset="0"/>
            </a:endParaRPr>
          </a:p>
          <a:p>
            <a:endParaRPr lang="en-US" sz="2400" dirty="0">
              <a:latin typeface="Consolas" panose="020B0609020204030204" pitchFamily="49" charset="0"/>
            </a:endParaRPr>
          </a:p>
        </p:txBody>
      </p:sp>
    </p:spTree>
    <p:extLst>
      <p:ext uri="{BB962C8B-B14F-4D97-AF65-F5344CB8AC3E}">
        <p14:creationId xmlns:p14="http://schemas.microsoft.com/office/powerpoint/2010/main" val="4128992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D5D0B-21C5-2555-FEA7-723AC56BB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75582-4BDA-5125-2ABE-BBA0344F03F3}"/>
              </a:ext>
            </a:extLst>
          </p:cNvPr>
          <p:cNvSpPr>
            <a:spLocks noGrp="1"/>
          </p:cNvSpPr>
          <p:nvPr>
            <p:ph type="title"/>
          </p:nvPr>
        </p:nvSpPr>
        <p:spPr/>
        <p:txBody>
          <a:bodyPr/>
          <a:lstStyle/>
          <a:p>
            <a:r>
              <a:rPr lang="en-US" dirty="0"/>
              <a:t>FREE API</a:t>
            </a:r>
          </a:p>
        </p:txBody>
      </p:sp>
      <p:sp>
        <p:nvSpPr>
          <p:cNvPr id="4" name="Content Placeholder 2">
            <a:extLst>
              <a:ext uri="{FF2B5EF4-FFF2-40B4-BE49-F238E27FC236}">
                <a16:creationId xmlns:a16="http://schemas.microsoft.com/office/drawing/2014/main" id="{F155FC1C-7FBF-08AA-3EF4-0A4C65DD29EF}"/>
              </a:ext>
            </a:extLst>
          </p:cNvPr>
          <p:cNvSpPr>
            <a:spLocks noGrp="1"/>
          </p:cNvSpPr>
          <p:nvPr>
            <p:ph idx="1"/>
          </p:nvPr>
        </p:nvSpPr>
        <p:spPr>
          <a:xfrm>
            <a:off x="700635" y="1268107"/>
            <a:ext cx="10691265" cy="600178"/>
          </a:xfrm>
        </p:spPr>
        <p:txBody>
          <a:bodyPr>
            <a:normAutofit lnSpcReduction="10000"/>
          </a:bodyPr>
          <a:lstStyle/>
          <a:p>
            <a:pPr>
              <a:lnSpc>
                <a:spcPct val="200000"/>
              </a:lnSpc>
            </a:pPr>
            <a:r>
              <a:rPr lang="en-US" dirty="0">
                <a:latin typeface="Consolas" panose="020B0609020204030204" pitchFamily="49" charset="0"/>
              </a:rPr>
              <a:t>https://jsonplaceholder.typicode.com/posts?userId=1</a:t>
            </a:r>
          </a:p>
        </p:txBody>
      </p:sp>
      <p:pic>
        <p:nvPicPr>
          <p:cNvPr id="6" name="Picture 5">
            <a:extLst>
              <a:ext uri="{FF2B5EF4-FFF2-40B4-BE49-F238E27FC236}">
                <a16:creationId xmlns:a16="http://schemas.microsoft.com/office/drawing/2014/main" id="{1D36B651-9C21-AC13-1EFD-70D715A6AAE1}"/>
              </a:ext>
            </a:extLst>
          </p:cNvPr>
          <p:cNvPicPr>
            <a:picLocks noChangeAspect="1"/>
          </p:cNvPicPr>
          <p:nvPr/>
        </p:nvPicPr>
        <p:blipFill>
          <a:blip r:embed="rId3"/>
          <a:stretch>
            <a:fillRect/>
          </a:stretch>
        </p:blipFill>
        <p:spPr>
          <a:xfrm>
            <a:off x="881743" y="1893188"/>
            <a:ext cx="6411686" cy="4120552"/>
          </a:xfrm>
          <a:prstGeom prst="rect">
            <a:avLst/>
          </a:prstGeom>
        </p:spPr>
      </p:pic>
    </p:spTree>
    <p:extLst>
      <p:ext uri="{BB962C8B-B14F-4D97-AF65-F5344CB8AC3E}">
        <p14:creationId xmlns:p14="http://schemas.microsoft.com/office/powerpoint/2010/main" val="1513554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263C9-F832-2D09-D378-AB98F3742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88ADC-47A8-96ED-32B0-65F1EB4350EB}"/>
              </a:ext>
            </a:extLst>
          </p:cNvPr>
          <p:cNvSpPr>
            <a:spLocks noGrp="1"/>
          </p:cNvSpPr>
          <p:nvPr>
            <p:ph type="title"/>
          </p:nvPr>
        </p:nvSpPr>
        <p:spPr/>
        <p:txBody>
          <a:bodyPr/>
          <a:lstStyle/>
          <a:p>
            <a:r>
              <a:rPr lang="en-US" dirty="0"/>
              <a:t>AUTH required</a:t>
            </a:r>
          </a:p>
        </p:txBody>
      </p:sp>
      <p:sp>
        <p:nvSpPr>
          <p:cNvPr id="4" name="Content Placeholder 2">
            <a:extLst>
              <a:ext uri="{FF2B5EF4-FFF2-40B4-BE49-F238E27FC236}">
                <a16:creationId xmlns:a16="http://schemas.microsoft.com/office/drawing/2014/main" id="{2EE2D41D-25A4-26AD-81B3-CF8067B06654}"/>
              </a:ext>
            </a:extLst>
          </p:cNvPr>
          <p:cNvSpPr>
            <a:spLocks noGrp="1"/>
          </p:cNvSpPr>
          <p:nvPr>
            <p:ph idx="1"/>
          </p:nvPr>
        </p:nvSpPr>
        <p:spPr>
          <a:xfrm>
            <a:off x="700635" y="1480300"/>
            <a:ext cx="10691265" cy="600178"/>
          </a:xfrm>
        </p:spPr>
        <p:txBody>
          <a:bodyPr>
            <a:normAutofit lnSpcReduction="10000"/>
          </a:bodyPr>
          <a:lstStyle/>
          <a:p>
            <a:pPr>
              <a:lnSpc>
                <a:spcPct val="200000"/>
              </a:lnSpc>
            </a:pPr>
            <a:r>
              <a:rPr lang="en-US" dirty="0">
                <a:latin typeface="Consolas" panose="020B0609020204030204" pitchFamily="49" charset="0"/>
              </a:rPr>
              <a:t>https://api.github.com/user</a:t>
            </a:r>
          </a:p>
        </p:txBody>
      </p:sp>
      <p:pic>
        <p:nvPicPr>
          <p:cNvPr id="6" name="Picture 5">
            <a:extLst>
              <a:ext uri="{FF2B5EF4-FFF2-40B4-BE49-F238E27FC236}">
                <a16:creationId xmlns:a16="http://schemas.microsoft.com/office/drawing/2014/main" id="{77DFE2BC-5148-78E1-8C42-7FF88C50EEE0}"/>
              </a:ext>
            </a:extLst>
          </p:cNvPr>
          <p:cNvPicPr>
            <a:picLocks noChangeAspect="1"/>
          </p:cNvPicPr>
          <p:nvPr/>
        </p:nvPicPr>
        <p:blipFill>
          <a:blip r:embed="rId3"/>
          <a:srcRect b="17059"/>
          <a:stretch>
            <a:fillRect/>
          </a:stretch>
        </p:blipFill>
        <p:spPr>
          <a:xfrm>
            <a:off x="854313" y="2083092"/>
            <a:ext cx="7115047" cy="3860508"/>
          </a:xfrm>
          <a:prstGeom prst="rect">
            <a:avLst/>
          </a:prstGeom>
        </p:spPr>
      </p:pic>
    </p:spTree>
    <p:extLst>
      <p:ext uri="{BB962C8B-B14F-4D97-AF65-F5344CB8AC3E}">
        <p14:creationId xmlns:p14="http://schemas.microsoft.com/office/powerpoint/2010/main" val="2251959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A24A4-55A9-628F-F0AE-3F13531EE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12F48-707F-1E66-C44F-1C3036169FF8}"/>
              </a:ext>
            </a:extLst>
          </p:cNvPr>
          <p:cNvSpPr>
            <a:spLocks noGrp="1"/>
          </p:cNvSpPr>
          <p:nvPr>
            <p:ph type="title"/>
          </p:nvPr>
        </p:nvSpPr>
        <p:spPr/>
        <p:txBody>
          <a:bodyPr/>
          <a:lstStyle/>
          <a:p>
            <a:r>
              <a:rPr lang="en-US" dirty="0"/>
              <a:t>AUTH required (FIXED)</a:t>
            </a:r>
          </a:p>
        </p:txBody>
      </p:sp>
      <p:sp>
        <p:nvSpPr>
          <p:cNvPr id="4" name="Content Placeholder 2">
            <a:extLst>
              <a:ext uri="{FF2B5EF4-FFF2-40B4-BE49-F238E27FC236}">
                <a16:creationId xmlns:a16="http://schemas.microsoft.com/office/drawing/2014/main" id="{B3EF5855-4369-6A9E-5EFA-E162B3BA25C1}"/>
              </a:ext>
            </a:extLst>
          </p:cNvPr>
          <p:cNvSpPr>
            <a:spLocks noGrp="1"/>
          </p:cNvSpPr>
          <p:nvPr>
            <p:ph idx="1"/>
          </p:nvPr>
        </p:nvSpPr>
        <p:spPr>
          <a:xfrm>
            <a:off x="700635" y="1480300"/>
            <a:ext cx="10691265" cy="600178"/>
          </a:xfrm>
        </p:spPr>
        <p:txBody>
          <a:bodyPr>
            <a:normAutofit lnSpcReduction="10000"/>
          </a:bodyPr>
          <a:lstStyle/>
          <a:p>
            <a:pPr>
              <a:lnSpc>
                <a:spcPct val="200000"/>
              </a:lnSpc>
            </a:pPr>
            <a:r>
              <a:rPr lang="en-US" dirty="0">
                <a:latin typeface="Consolas" panose="020B0609020204030204" pitchFamily="49" charset="0"/>
              </a:rPr>
              <a:t>https://api.github.com/user</a:t>
            </a:r>
          </a:p>
        </p:txBody>
      </p:sp>
      <p:pic>
        <p:nvPicPr>
          <p:cNvPr id="5" name="Picture 4">
            <a:extLst>
              <a:ext uri="{FF2B5EF4-FFF2-40B4-BE49-F238E27FC236}">
                <a16:creationId xmlns:a16="http://schemas.microsoft.com/office/drawing/2014/main" id="{E7F21AB7-B4E5-0740-D815-A0DA9D1AA2A6}"/>
              </a:ext>
            </a:extLst>
          </p:cNvPr>
          <p:cNvPicPr>
            <a:picLocks noChangeAspect="1"/>
          </p:cNvPicPr>
          <p:nvPr/>
        </p:nvPicPr>
        <p:blipFill>
          <a:blip r:embed="rId3"/>
          <a:stretch>
            <a:fillRect/>
          </a:stretch>
        </p:blipFill>
        <p:spPr>
          <a:xfrm>
            <a:off x="839518" y="2047464"/>
            <a:ext cx="5949902" cy="3950058"/>
          </a:xfrm>
          <a:prstGeom prst="rect">
            <a:avLst/>
          </a:prstGeom>
        </p:spPr>
      </p:pic>
    </p:spTree>
    <p:extLst>
      <p:ext uri="{BB962C8B-B14F-4D97-AF65-F5344CB8AC3E}">
        <p14:creationId xmlns:p14="http://schemas.microsoft.com/office/powerpoint/2010/main" val="557143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C370-0AA0-0B33-6BFF-A8875572C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58CE4-ECAC-0A23-06AC-52DD539259C5}"/>
              </a:ext>
            </a:extLst>
          </p:cNvPr>
          <p:cNvSpPr>
            <a:spLocks noGrp="1"/>
          </p:cNvSpPr>
          <p:nvPr>
            <p:ph type="title"/>
          </p:nvPr>
        </p:nvSpPr>
        <p:spPr/>
        <p:txBody>
          <a:bodyPr/>
          <a:lstStyle/>
          <a:p>
            <a:r>
              <a:rPr lang="en-US" dirty="0"/>
              <a:t>Good habits</a:t>
            </a:r>
          </a:p>
        </p:txBody>
      </p:sp>
      <p:sp>
        <p:nvSpPr>
          <p:cNvPr id="4" name="Content Placeholder 2">
            <a:extLst>
              <a:ext uri="{FF2B5EF4-FFF2-40B4-BE49-F238E27FC236}">
                <a16:creationId xmlns:a16="http://schemas.microsoft.com/office/drawing/2014/main" id="{93659D10-2B7A-7E30-284F-3BEB8D1AB47E}"/>
              </a:ext>
            </a:extLst>
          </p:cNvPr>
          <p:cNvSpPr>
            <a:spLocks noGrp="1"/>
          </p:cNvSpPr>
          <p:nvPr>
            <p:ph idx="1"/>
          </p:nvPr>
        </p:nvSpPr>
        <p:spPr>
          <a:xfrm>
            <a:off x="800100" y="2024587"/>
            <a:ext cx="10691265" cy="3919014"/>
          </a:xfrm>
        </p:spPr>
        <p:txBody>
          <a:bodyPr>
            <a:normAutofit fontScale="92500"/>
          </a:bodyPr>
          <a:lstStyle/>
          <a:p>
            <a:pPr>
              <a:lnSpc>
                <a:spcPct val="200000"/>
              </a:lnSpc>
            </a:pPr>
            <a:r>
              <a:rPr lang="en-US" sz="2400" dirty="0"/>
              <a:t>Use the right HTTP method for the job (GET for read, POST for create, etc.).</a:t>
            </a:r>
          </a:p>
          <a:p>
            <a:pPr>
              <a:lnSpc>
                <a:spcPct val="200000"/>
              </a:lnSpc>
            </a:pPr>
            <a:r>
              <a:rPr lang="en-US" sz="2400" dirty="0"/>
              <a:t>Always check the status code and handle non‑2xx cases.</a:t>
            </a:r>
          </a:p>
          <a:p>
            <a:pPr>
              <a:lnSpc>
                <a:spcPct val="200000"/>
              </a:lnSpc>
            </a:pPr>
            <a:r>
              <a:rPr lang="en-US" sz="2400" dirty="0"/>
              <a:t>Use timeouts to avoid hanging requests.</a:t>
            </a:r>
          </a:p>
          <a:p>
            <a:pPr>
              <a:lnSpc>
                <a:spcPct val="200000"/>
              </a:lnSpc>
            </a:pPr>
            <a:r>
              <a:rPr lang="en-US" sz="2400" dirty="0"/>
              <a:t>Keep API keys/tokens out of public code; prefer environment variables.</a:t>
            </a:r>
          </a:p>
          <a:p>
            <a:pPr>
              <a:lnSpc>
                <a:spcPct val="200000"/>
              </a:lnSpc>
            </a:pPr>
            <a:r>
              <a:rPr lang="en-US" sz="2400" dirty="0"/>
              <a:t>Read the API docs: required parameters, auth, rate limits, and example responses.</a:t>
            </a:r>
          </a:p>
        </p:txBody>
      </p:sp>
    </p:spTree>
    <p:extLst>
      <p:ext uri="{BB962C8B-B14F-4D97-AF65-F5344CB8AC3E}">
        <p14:creationId xmlns:p14="http://schemas.microsoft.com/office/powerpoint/2010/main" val="1163845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8EDA-C997-DC8C-73EF-22C5BD56E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47293-9B0A-6E99-DE59-DF6FE7A430CF}"/>
              </a:ext>
            </a:extLst>
          </p:cNvPr>
          <p:cNvSpPr>
            <a:spLocks noGrp="1"/>
          </p:cNvSpPr>
          <p:nvPr>
            <p:ph type="title"/>
          </p:nvPr>
        </p:nvSpPr>
        <p:spPr/>
        <p:txBody>
          <a:bodyPr/>
          <a:lstStyle/>
          <a:p>
            <a:r>
              <a:rPr lang="en-US" dirty="0"/>
              <a:t>quiz</a:t>
            </a:r>
          </a:p>
        </p:txBody>
      </p:sp>
      <p:sp>
        <p:nvSpPr>
          <p:cNvPr id="4" name="Content Placeholder 2">
            <a:extLst>
              <a:ext uri="{FF2B5EF4-FFF2-40B4-BE49-F238E27FC236}">
                <a16:creationId xmlns:a16="http://schemas.microsoft.com/office/drawing/2014/main" id="{97DC70FE-D23B-9888-72F3-674320914E78}"/>
              </a:ext>
            </a:extLst>
          </p:cNvPr>
          <p:cNvSpPr>
            <a:spLocks noGrp="1"/>
          </p:cNvSpPr>
          <p:nvPr>
            <p:ph idx="1"/>
          </p:nvPr>
        </p:nvSpPr>
        <p:spPr>
          <a:xfrm>
            <a:off x="700635" y="1568196"/>
            <a:ext cx="11441633" cy="4713670"/>
          </a:xfrm>
        </p:spPr>
        <p:txBody>
          <a:bodyPr>
            <a:noAutofit/>
          </a:bodyPr>
          <a:lstStyle/>
          <a:p>
            <a:pPr>
              <a:lnSpc>
                <a:spcPct val="200000"/>
              </a:lnSpc>
            </a:pPr>
            <a:r>
              <a:rPr lang="en-US" sz="2200" dirty="0"/>
              <a:t>In </a:t>
            </a:r>
            <a:r>
              <a:rPr lang="en-US" sz="2200" b="1" dirty="0"/>
              <a:t>HTTP</a:t>
            </a:r>
            <a:r>
              <a:rPr lang="en-US" sz="2200" dirty="0"/>
              <a:t>, which part tells the server what action you want (read/create/update/delete)?</a:t>
            </a:r>
          </a:p>
          <a:p>
            <a:pPr>
              <a:lnSpc>
                <a:spcPct val="200000"/>
              </a:lnSpc>
            </a:pPr>
            <a:r>
              <a:rPr lang="en-US" sz="2200" dirty="0"/>
              <a:t>What is the difference between </a:t>
            </a:r>
            <a:r>
              <a:rPr lang="en-US" sz="2200" b="1" dirty="0"/>
              <a:t>200 OK </a:t>
            </a:r>
            <a:r>
              <a:rPr lang="en-US" sz="2200" dirty="0"/>
              <a:t>and </a:t>
            </a:r>
            <a:r>
              <a:rPr lang="en-US" sz="2200" b="1" dirty="0"/>
              <a:t>201</a:t>
            </a:r>
            <a:r>
              <a:rPr lang="en-US" sz="2200" dirty="0"/>
              <a:t> Created?</a:t>
            </a:r>
          </a:p>
          <a:p>
            <a:pPr>
              <a:lnSpc>
                <a:spcPct val="200000"/>
              </a:lnSpc>
            </a:pPr>
            <a:r>
              <a:rPr lang="en-US" sz="2200" b="1" dirty="0"/>
              <a:t>True/False</a:t>
            </a:r>
            <a:r>
              <a:rPr lang="en-US" sz="2200" dirty="0"/>
              <a:t>: GET should change data on the server.</a:t>
            </a:r>
          </a:p>
          <a:p>
            <a:pPr>
              <a:lnSpc>
                <a:spcPct val="200000"/>
              </a:lnSpc>
            </a:pPr>
            <a:r>
              <a:rPr lang="en-US" sz="2200" dirty="0"/>
              <a:t>Which header often carries tokens for APIs (e.g., OAuth2/JWT)?</a:t>
            </a:r>
          </a:p>
          <a:p>
            <a:pPr>
              <a:lnSpc>
                <a:spcPct val="200000"/>
              </a:lnSpc>
            </a:pPr>
            <a:r>
              <a:rPr lang="en-US" sz="2200" dirty="0"/>
              <a:t>What is a query parameter? Give an example using ?key=value.</a:t>
            </a:r>
          </a:p>
        </p:txBody>
      </p:sp>
    </p:spTree>
    <p:extLst>
      <p:ext uri="{BB962C8B-B14F-4D97-AF65-F5344CB8AC3E}">
        <p14:creationId xmlns:p14="http://schemas.microsoft.com/office/powerpoint/2010/main" val="2727401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02CA9-46E7-9DBD-190C-B84A2002B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74075-98B6-CA87-FC2C-4A85F338F3E4}"/>
              </a:ext>
            </a:extLst>
          </p:cNvPr>
          <p:cNvSpPr>
            <a:spLocks noGrp="1"/>
          </p:cNvSpPr>
          <p:nvPr>
            <p:ph type="title"/>
          </p:nvPr>
        </p:nvSpPr>
        <p:spPr/>
        <p:txBody>
          <a:bodyPr/>
          <a:lstStyle/>
          <a:p>
            <a:r>
              <a:rPr lang="en-US" dirty="0"/>
              <a:t>SUMMARY</a:t>
            </a:r>
          </a:p>
        </p:txBody>
      </p:sp>
      <p:sp>
        <p:nvSpPr>
          <p:cNvPr id="4" name="Content Placeholder 2">
            <a:extLst>
              <a:ext uri="{FF2B5EF4-FFF2-40B4-BE49-F238E27FC236}">
                <a16:creationId xmlns:a16="http://schemas.microsoft.com/office/drawing/2014/main" id="{B5B9F16E-90B8-38F0-786C-194CC2CD9455}"/>
              </a:ext>
            </a:extLst>
          </p:cNvPr>
          <p:cNvSpPr>
            <a:spLocks noGrp="1"/>
          </p:cNvSpPr>
          <p:nvPr>
            <p:ph idx="1"/>
          </p:nvPr>
        </p:nvSpPr>
        <p:spPr>
          <a:xfrm>
            <a:off x="750367" y="2046357"/>
            <a:ext cx="10691265" cy="4104072"/>
          </a:xfrm>
        </p:spPr>
        <p:txBody>
          <a:bodyPr>
            <a:normAutofit/>
          </a:bodyPr>
          <a:lstStyle/>
          <a:p>
            <a:pPr>
              <a:lnSpc>
                <a:spcPct val="200000"/>
              </a:lnSpc>
              <a:buFont typeface="Wingdings" panose="05000000000000000000" pitchFamily="2" charset="2"/>
              <a:buChar char="§"/>
            </a:pPr>
            <a:r>
              <a:rPr lang="en-US" sz="2200" b="1" dirty="0"/>
              <a:t>Client</a:t>
            </a:r>
            <a:r>
              <a:rPr lang="en-US" sz="2200" dirty="0"/>
              <a:t> and </a:t>
            </a:r>
            <a:r>
              <a:rPr lang="en-US" sz="2200" b="1" dirty="0"/>
              <a:t>Server</a:t>
            </a:r>
            <a:r>
              <a:rPr lang="en-US" sz="2200" dirty="0"/>
              <a:t> talk via </a:t>
            </a:r>
            <a:r>
              <a:rPr lang="en-US" sz="2200" b="1" dirty="0"/>
              <a:t>HTTP</a:t>
            </a:r>
            <a:r>
              <a:rPr lang="en-US" sz="2200" dirty="0"/>
              <a:t> (request → response).</a:t>
            </a:r>
          </a:p>
          <a:p>
            <a:pPr>
              <a:lnSpc>
                <a:spcPct val="200000"/>
              </a:lnSpc>
              <a:buFont typeface="Wingdings" panose="05000000000000000000" pitchFamily="2" charset="2"/>
              <a:buChar char="§"/>
            </a:pPr>
            <a:r>
              <a:rPr lang="en-US" sz="2200" b="1" dirty="0"/>
              <a:t>Methods</a:t>
            </a:r>
            <a:r>
              <a:rPr lang="en-US" sz="2200" dirty="0"/>
              <a:t> describe the action; status codes describe the result.</a:t>
            </a:r>
          </a:p>
          <a:p>
            <a:pPr>
              <a:lnSpc>
                <a:spcPct val="200000"/>
              </a:lnSpc>
              <a:buFont typeface="Wingdings" panose="05000000000000000000" pitchFamily="2" charset="2"/>
              <a:buChar char="§"/>
            </a:pPr>
            <a:r>
              <a:rPr lang="en-US" sz="2200" b="1" dirty="0"/>
              <a:t>URLs + query parameters </a:t>
            </a:r>
            <a:r>
              <a:rPr lang="en-US" sz="2200" dirty="0"/>
              <a:t>control what you ask for.</a:t>
            </a:r>
          </a:p>
          <a:p>
            <a:pPr>
              <a:lnSpc>
                <a:spcPct val="200000"/>
              </a:lnSpc>
              <a:buFont typeface="Wingdings" panose="05000000000000000000" pitchFamily="2" charset="2"/>
              <a:buChar char="§"/>
            </a:pPr>
            <a:r>
              <a:rPr lang="en-US" sz="2200" dirty="0"/>
              <a:t>You used a browser, Postman, and Python to call real APIs (</a:t>
            </a:r>
            <a:r>
              <a:rPr lang="en-US" sz="2200" b="1" dirty="0" err="1"/>
              <a:t>JSONPlaceholder</a:t>
            </a:r>
            <a:r>
              <a:rPr lang="en-US" sz="2200" dirty="0"/>
              <a:t>, </a:t>
            </a:r>
            <a:r>
              <a:rPr lang="en-US" sz="2200" b="1" dirty="0"/>
              <a:t>Open‑</a:t>
            </a:r>
            <a:r>
              <a:rPr lang="en-US" sz="2200" b="1" dirty="0" err="1"/>
              <a:t>Meteo</a:t>
            </a:r>
            <a:r>
              <a:rPr lang="en-US" sz="2200" dirty="0"/>
              <a:t>).</a:t>
            </a:r>
          </a:p>
        </p:txBody>
      </p:sp>
    </p:spTree>
    <p:extLst>
      <p:ext uri="{BB962C8B-B14F-4D97-AF65-F5344CB8AC3E}">
        <p14:creationId xmlns:p14="http://schemas.microsoft.com/office/powerpoint/2010/main" val="985028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BB9C7-2C7F-552B-603B-60A90F991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50BDC-2E05-F624-1891-3445EAD01F00}"/>
              </a:ext>
            </a:extLst>
          </p:cNvPr>
          <p:cNvSpPr>
            <a:spLocks noGrp="1"/>
          </p:cNvSpPr>
          <p:nvPr>
            <p:ph type="title"/>
          </p:nvPr>
        </p:nvSpPr>
        <p:spPr/>
        <p:txBody>
          <a:bodyPr/>
          <a:lstStyle/>
          <a:p>
            <a:r>
              <a:rPr lang="en-US" dirty="0"/>
              <a:t>Next	</a:t>
            </a:r>
          </a:p>
        </p:txBody>
      </p:sp>
      <p:sp>
        <p:nvSpPr>
          <p:cNvPr id="7" name="Content Placeholder 2">
            <a:extLst>
              <a:ext uri="{FF2B5EF4-FFF2-40B4-BE49-F238E27FC236}">
                <a16:creationId xmlns:a16="http://schemas.microsoft.com/office/drawing/2014/main" id="{1634CA5F-4310-F6B5-8AA3-5910A1EA95E0}"/>
              </a:ext>
            </a:extLst>
          </p:cNvPr>
          <p:cNvSpPr>
            <a:spLocks noGrp="1"/>
          </p:cNvSpPr>
          <p:nvPr>
            <p:ph idx="1"/>
          </p:nvPr>
        </p:nvSpPr>
        <p:spPr>
          <a:xfrm>
            <a:off x="866888" y="1750661"/>
            <a:ext cx="10691265" cy="4584825"/>
          </a:xfrm>
        </p:spPr>
        <p:txBody>
          <a:bodyPr>
            <a:noAutofit/>
          </a:bodyPr>
          <a:lstStyle/>
          <a:p>
            <a:pPr>
              <a:lnSpc>
                <a:spcPct val="200000"/>
              </a:lnSpc>
            </a:pPr>
            <a:r>
              <a:rPr lang="en-US" sz="2200" dirty="0"/>
              <a:t>Use Python’s </a:t>
            </a:r>
            <a:r>
              <a:rPr lang="en-US" sz="2200" b="1" dirty="0">
                <a:latin typeface="Consolas" panose="020B0609020204030204" pitchFamily="49" charset="0"/>
              </a:rPr>
              <a:t>requests </a:t>
            </a:r>
            <a:r>
              <a:rPr lang="en-US" sz="2200" dirty="0"/>
              <a:t>library to make:</a:t>
            </a:r>
          </a:p>
          <a:p>
            <a:pPr lvl="1">
              <a:lnSpc>
                <a:spcPct val="200000"/>
              </a:lnSpc>
            </a:pPr>
            <a:r>
              <a:rPr lang="en-US" sz="2200" dirty="0"/>
              <a:t>GET</a:t>
            </a:r>
          </a:p>
          <a:p>
            <a:pPr lvl="1">
              <a:lnSpc>
                <a:spcPct val="200000"/>
              </a:lnSpc>
            </a:pPr>
            <a:r>
              <a:rPr lang="en-US" sz="2200" dirty="0"/>
              <a:t>POST</a:t>
            </a:r>
          </a:p>
          <a:p>
            <a:pPr lvl="1">
              <a:lnSpc>
                <a:spcPct val="200000"/>
              </a:lnSpc>
            </a:pPr>
            <a:r>
              <a:rPr lang="en-US" sz="2200" dirty="0"/>
              <a:t>PUT</a:t>
            </a:r>
          </a:p>
          <a:p>
            <a:pPr lvl="1">
              <a:lnSpc>
                <a:spcPct val="200000"/>
              </a:lnSpc>
            </a:pPr>
            <a:r>
              <a:rPr lang="en-US" sz="2200" dirty="0"/>
              <a:t>DELETE</a:t>
            </a:r>
          </a:p>
          <a:p>
            <a:pPr marL="0" indent="0">
              <a:lnSpc>
                <a:spcPct val="200000"/>
              </a:lnSpc>
              <a:buNone/>
            </a:pPr>
            <a:r>
              <a:rPr lang="en-US" sz="2200" dirty="0">
                <a:latin typeface="Consolas" panose="020B0609020204030204" pitchFamily="49" charset="0"/>
              </a:rPr>
              <a:t>   </a:t>
            </a:r>
            <a:endParaRPr lang="en-US" sz="2200" dirty="0"/>
          </a:p>
        </p:txBody>
      </p:sp>
    </p:spTree>
    <p:extLst>
      <p:ext uri="{BB962C8B-B14F-4D97-AF65-F5344CB8AC3E}">
        <p14:creationId xmlns:p14="http://schemas.microsoft.com/office/powerpoint/2010/main" val="1862216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A8135-0EF4-7396-49EF-3554AFF4F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F72C7-4A84-0518-CDE9-F8C0E57DD56E}"/>
              </a:ext>
            </a:extLst>
          </p:cNvPr>
          <p:cNvSpPr>
            <a:spLocks noGrp="1"/>
          </p:cNvSpPr>
          <p:nvPr>
            <p:ph type="title"/>
          </p:nvPr>
        </p:nvSpPr>
        <p:spPr/>
        <p:txBody>
          <a:bodyPr/>
          <a:lstStyle/>
          <a:p>
            <a:r>
              <a:rPr lang="en-US" dirty="0"/>
              <a:t>Questions</a:t>
            </a:r>
          </a:p>
        </p:txBody>
      </p:sp>
      <p:pic>
        <p:nvPicPr>
          <p:cNvPr id="7" name="Picture 6">
            <a:extLst>
              <a:ext uri="{FF2B5EF4-FFF2-40B4-BE49-F238E27FC236}">
                <a16:creationId xmlns:a16="http://schemas.microsoft.com/office/drawing/2014/main" id="{2765AD32-B80F-14E6-E8E1-DD9CB33EF2E1}"/>
              </a:ext>
            </a:extLst>
          </p:cNvPr>
          <p:cNvPicPr>
            <a:picLocks noChangeAspect="1"/>
          </p:cNvPicPr>
          <p:nvPr/>
        </p:nvPicPr>
        <p:blipFill rotWithShape="1">
          <a:blip r:embed="rId3"/>
          <a:srcRect t="39335" b="17954"/>
          <a:stretch/>
        </p:blipFill>
        <p:spPr>
          <a:xfrm>
            <a:off x="1152822" y="2924503"/>
            <a:ext cx="9434668" cy="3019097"/>
          </a:xfrm>
          <a:prstGeom prst="rect">
            <a:avLst/>
          </a:prstGeom>
        </p:spPr>
      </p:pic>
    </p:spTree>
    <p:extLst>
      <p:ext uri="{BB962C8B-B14F-4D97-AF65-F5344CB8AC3E}">
        <p14:creationId xmlns:p14="http://schemas.microsoft.com/office/powerpoint/2010/main" val="145253936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4268</TotalTime>
  <Words>1187</Words>
  <Application>Microsoft Office PowerPoint</Application>
  <PresentationFormat>Widescreen</PresentationFormat>
  <Paragraphs>177</Paragraphs>
  <Slides>21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Calisto MT</vt:lpstr>
      <vt:lpstr>Consolas</vt:lpstr>
      <vt:lpstr>Google Sans Text</vt:lpstr>
      <vt:lpstr>Univers Condensed</vt:lpstr>
      <vt:lpstr>Wingdings</vt:lpstr>
      <vt:lpstr>ChronicleVTI</vt:lpstr>
      <vt:lpstr>CSIS 1230-01 programming for everyone iI</vt:lpstr>
      <vt:lpstr>OUTLINE</vt:lpstr>
      <vt:lpstr>Client – server communication via http</vt:lpstr>
      <vt:lpstr>Client – server (restaurant)</vt:lpstr>
      <vt:lpstr>Client – server (web terms)</vt:lpstr>
      <vt:lpstr>Client – server (Demo)</vt:lpstr>
      <vt:lpstr>HTTP</vt:lpstr>
      <vt:lpstr>ANATOMY of a url</vt:lpstr>
      <vt:lpstr>HTTP Methods</vt:lpstr>
      <vt:lpstr>Status codes</vt:lpstr>
      <vt:lpstr>Status codes</vt:lpstr>
      <vt:lpstr>auth</vt:lpstr>
      <vt:lpstr>Class exercise</vt:lpstr>
      <vt:lpstr>FREE API</vt:lpstr>
      <vt:lpstr>AUTH required</vt:lpstr>
      <vt:lpstr>AUTH required (FIXED)</vt:lpstr>
      <vt:lpstr>Good habits</vt:lpstr>
      <vt:lpstr>quiz</vt:lpstr>
      <vt:lpstr>SUMMARY</vt:lpstr>
      <vt:lpstr>Next </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Clement Essien</dc:creator>
  <cp:lastModifiedBy>Essien, Clement</cp:lastModifiedBy>
  <cp:revision>113</cp:revision>
  <dcterms:created xsi:type="dcterms:W3CDTF">2025-07-26T14:55:12Z</dcterms:created>
  <dcterms:modified xsi:type="dcterms:W3CDTF">2026-02-01T20:29:45Z</dcterms:modified>
</cp:coreProperties>
</file>